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23"/>
  </p:notesMasterIdLst>
  <p:handoutMasterIdLst>
    <p:handoutMasterId r:id="rId24"/>
  </p:handoutMasterIdLst>
  <p:sldIdLst>
    <p:sldId id="268" r:id="rId2"/>
    <p:sldId id="267" r:id="rId3"/>
    <p:sldId id="1284" r:id="rId4"/>
    <p:sldId id="1301" r:id="rId5"/>
    <p:sldId id="1302" r:id="rId6"/>
    <p:sldId id="1300" r:id="rId7"/>
    <p:sldId id="1285" r:id="rId8"/>
    <p:sldId id="1286" r:id="rId9"/>
    <p:sldId id="1295" r:id="rId10"/>
    <p:sldId id="1287" r:id="rId11"/>
    <p:sldId id="1296" r:id="rId12"/>
    <p:sldId id="1288" r:id="rId13"/>
    <p:sldId id="1297" r:id="rId14"/>
    <p:sldId id="1290" r:id="rId15"/>
    <p:sldId id="1291" r:id="rId16"/>
    <p:sldId id="1292" r:id="rId17"/>
    <p:sldId id="1298" r:id="rId18"/>
    <p:sldId id="1293" r:id="rId19"/>
    <p:sldId id="1299" r:id="rId20"/>
    <p:sldId id="1294" r:id="rId21"/>
    <p:sldId id="1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7F7F7F"/>
    <a:srgbClr val="FFC000"/>
    <a:srgbClr val="6680A0"/>
    <a:srgbClr val="898989"/>
    <a:srgbClr val="FFFFFF"/>
    <a:srgbClr val="4472C4"/>
    <a:srgbClr val="FFC8A3"/>
    <a:srgbClr val="EEB500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6405" autoAdjust="0"/>
  </p:normalViewPr>
  <p:slideViewPr>
    <p:cSldViewPr snapToGrid="0">
      <p:cViewPr varScale="1">
        <p:scale>
          <a:sx n="71" d="100"/>
          <a:sy n="71" d="100"/>
        </p:scale>
        <p:origin x="187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55B16A-F19F-41BE-AD36-3D25357042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4ED22-35A2-49CA-A499-AF1C45D367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0AA9E-9D1F-41D9-8A76-296253B1C90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7D18B-F76E-4E6E-89D4-C669ABA9D4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A199D-4726-460C-9ED6-CADA99DEF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639B1-6D47-4CF6-BA77-ACDDD2C2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66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A706C-0FB3-46FD-A204-3427F6F4909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B8C17-33C5-416C-BB7A-30C5F5624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597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8C17-33C5-416C-BB7A-30C5F56240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38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8C17-33C5-416C-BB7A-30C5F56240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15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02B6-57F2-9F95-4113-E06E89EEA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64AEF-CBC3-77DF-F413-A9AEAC64E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0337-10F1-98F8-2484-694D79411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EAF4F-36EA-DEEE-4AF7-A04AE5AD9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8C17-33C5-416C-BB7A-30C5F56240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6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646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3524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683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655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288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772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2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727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0415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28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22152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078055-0097-4DB7-851A-A71B474EF1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5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EEEB26D-7517-4752-A001-ACC01EB485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-1"/>
            <a:ext cx="4473395" cy="3429000"/>
          </a:xfrm>
          <a:custGeom>
            <a:avLst/>
            <a:gdLst>
              <a:gd name="connsiteX0" fmla="*/ 4020176 w 5964526"/>
              <a:gd name="connsiteY0" fmla="*/ 0 h 3429000"/>
              <a:gd name="connsiteX1" fmla="*/ 5964526 w 5964526"/>
              <a:gd name="connsiteY1" fmla="*/ 3429000 h 3429000"/>
              <a:gd name="connsiteX2" fmla="*/ 2075825 w 5964526"/>
              <a:gd name="connsiteY2" fmla="*/ 3429000 h 3429000"/>
              <a:gd name="connsiteX3" fmla="*/ 0 w 5964526"/>
              <a:gd name="connsiteY3" fmla="*/ 0 h 3429000"/>
              <a:gd name="connsiteX4" fmla="*/ 3888701 w 5964526"/>
              <a:gd name="connsiteY4" fmla="*/ 0 h 3429000"/>
              <a:gd name="connsiteX5" fmla="*/ 1944350 w 5964526"/>
              <a:gd name="connsiteY5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64526" h="3429000">
                <a:moveTo>
                  <a:pt x="4020176" y="0"/>
                </a:moveTo>
                <a:lnTo>
                  <a:pt x="5964526" y="3429000"/>
                </a:lnTo>
                <a:lnTo>
                  <a:pt x="2075825" y="3429000"/>
                </a:lnTo>
                <a:close/>
                <a:moveTo>
                  <a:pt x="0" y="0"/>
                </a:moveTo>
                <a:lnTo>
                  <a:pt x="3888701" y="0"/>
                </a:lnTo>
                <a:lnTo>
                  <a:pt x="1944350" y="342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DDEAC48-D0D4-4DC7-A5A0-DA53EE756C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70604" y="-1"/>
            <a:ext cx="4473395" cy="3429000"/>
          </a:xfrm>
          <a:custGeom>
            <a:avLst/>
            <a:gdLst>
              <a:gd name="connsiteX0" fmla="*/ 2075825 w 5964526"/>
              <a:gd name="connsiteY0" fmla="*/ 0 h 3429000"/>
              <a:gd name="connsiteX1" fmla="*/ 5964526 w 5964526"/>
              <a:gd name="connsiteY1" fmla="*/ 0 h 3429000"/>
              <a:gd name="connsiteX2" fmla="*/ 4020175 w 5964526"/>
              <a:gd name="connsiteY2" fmla="*/ 3429000 h 3429000"/>
              <a:gd name="connsiteX3" fmla="*/ 1944351 w 5964526"/>
              <a:gd name="connsiteY3" fmla="*/ 0 h 3429000"/>
              <a:gd name="connsiteX4" fmla="*/ 3888701 w 5964526"/>
              <a:gd name="connsiteY4" fmla="*/ 3429000 h 3429000"/>
              <a:gd name="connsiteX5" fmla="*/ 0 w 5964526"/>
              <a:gd name="connsiteY5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64526" h="3429000">
                <a:moveTo>
                  <a:pt x="2075825" y="0"/>
                </a:moveTo>
                <a:lnTo>
                  <a:pt x="5964526" y="0"/>
                </a:lnTo>
                <a:lnTo>
                  <a:pt x="4020175" y="3429000"/>
                </a:lnTo>
                <a:close/>
                <a:moveTo>
                  <a:pt x="1944351" y="0"/>
                </a:moveTo>
                <a:lnTo>
                  <a:pt x="3888701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6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1E5E5ABB-462A-4B4C-B0FB-FC69BA8C3E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82467" y="-1"/>
            <a:ext cx="5761534" cy="6858001"/>
          </a:xfrm>
          <a:custGeom>
            <a:avLst/>
            <a:gdLst>
              <a:gd name="connsiteX0" fmla="*/ 4812389 w 7682045"/>
              <a:gd name="connsiteY0" fmla="*/ 3494828 h 6858001"/>
              <a:gd name="connsiteX1" fmla="*/ 7682044 w 7682045"/>
              <a:gd name="connsiteY1" fmla="*/ 3494828 h 6858001"/>
              <a:gd name="connsiteX2" fmla="*/ 6247216 w 7682045"/>
              <a:gd name="connsiteY2" fmla="*/ 6858001 h 6858001"/>
              <a:gd name="connsiteX3" fmla="*/ 4643087 w 7682045"/>
              <a:gd name="connsiteY3" fmla="*/ 3494828 h 6858001"/>
              <a:gd name="connsiteX4" fmla="*/ 6077914 w 7682045"/>
              <a:gd name="connsiteY4" fmla="*/ 6858001 h 6858001"/>
              <a:gd name="connsiteX5" fmla="*/ 3208259 w 7682045"/>
              <a:gd name="connsiteY5" fmla="*/ 6858001 h 6858001"/>
              <a:gd name="connsiteX6" fmla="*/ 1604130 w 7682045"/>
              <a:gd name="connsiteY6" fmla="*/ 3494827 h 6858001"/>
              <a:gd name="connsiteX7" fmla="*/ 4473785 w 7682045"/>
              <a:gd name="connsiteY7" fmla="*/ 3494827 h 6858001"/>
              <a:gd name="connsiteX8" fmla="*/ 3038957 w 7682045"/>
              <a:gd name="connsiteY8" fmla="*/ 6858000 h 6858001"/>
              <a:gd name="connsiteX9" fmla="*/ 1434828 w 7682045"/>
              <a:gd name="connsiteY9" fmla="*/ 3494827 h 6858001"/>
              <a:gd name="connsiteX10" fmla="*/ 2869655 w 7682045"/>
              <a:gd name="connsiteY10" fmla="*/ 6858000 h 6858001"/>
              <a:gd name="connsiteX11" fmla="*/ 0 w 7682045"/>
              <a:gd name="connsiteY11" fmla="*/ 6858000 h 6858001"/>
              <a:gd name="connsiteX12" fmla="*/ 6247218 w 7682045"/>
              <a:gd name="connsiteY12" fmla="*/ 1 h 6858001"/>
              <a:gd name="connsiteX13" fmla="*/ 7682045 w 7682045"/>
              <a:gd name="connsiteY13" fmla="*/ 3363174 h 6858001"/>
              <a:gd name="connsiteX14" fmla="*/ 4812390 w 7682045"/>
              <a:gd name="connsiteY14" fmla="*/ 3363174 h 6858001"/>
              <a:gd name="connsiteX15" fmla="*/ 3038959 w 7682045"/>
              <a:gd name="connsiteY15" fmla="*/ 0 h 6858001"/>
              <a:gd name="connsiteX16" fmla="*/ 4473786 w 7682045"/>
              <a:gd name="connsiteY16" fmla="*/ 3363173 h 6858001"/>
              <a:gd name="connsiteX17" fmla="*/ 1604131 w 7682045"/>
              <a:gd name="connsiteY17" fmla="*/ 336317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682045" h="6858001">
                <a:moveTo>
                  <a:pt x="4812389" y="3494828"/>
                </a:moveTo>
                <a:lnTo>
                  <a:pt x="7682044" y="3494828"/>
                </a:lnTo>
                <a:lnTo>
                  <a:pt x="6247216" y="6858001"/>
                </a:lnTo>
                <a:close/>
                <a:moveTo>
                  <a:pt x="4643087" y="3494828"/>
                </a:moveTo>
                <a:lnTo>
                  <a:pt x="6077914" y="6858001"/>
                </a:lnTo>
                <a:lnTo>
                  <a:pt x="3208259" y="6858001"/>
                </a:lnTo>
                <a:close/>
                <a:moveTo>
                  <a:pt x="1604130" y="3494827"/>
                </a:moveTo>
                <a:lnTo>
                  <a:pt x="4473785" y="3494827"/>
                </a:lnTo>
                <a:lnTo>
                  <a:pt x="3038957" y="6858000"/>
                </a:lnTo>
                <a:close/>
                <a:moveTo>
                  <a:pt x="1434828" y="3494827"/>
                </a:moveTo>
                <a:lnTo>
                  <a:pt x="2869655" y="6858000"/>
                </a:lnTo>
                <a:lnTo>
                  <a:pt x="0" y="6858000"/>
                </a:lnTo>
                <a:close/>
                <a:moveTo>
                  <a:pt x="6247218" y="1"/>
                </a:moveTo>
                <a:lnTo>
                  <a:pt x="7682045" y="3363174"/>
                </a:lnTo>
                <a:lnTo>
                  <a:pt x="4812390" y="3363174"/>
                </a:lnTo>
                <a:close/>
                <a:moveTo>
                  <a:pt x="3038959" y="0"/>
                </a:moveTo>
                <a:lnTo>
                  <a:pt x="4473786" y="3363173"/>
                </a:lnTo>
                <a:lnTo>
                  <a:pt x="1604131" y="336317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1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214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83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ADDFB-D256-4B09-9487-43B077A35E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206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7" r:id="rId14"/>
    <p:sldLayoutId id="2147483677" r:id="rId15"/>
    <p:sldLayoutId id="214748367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5.gif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gif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gif"/><Relationship Id="rId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gif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F31F512-E8C5-4341-A739-1B709B9F4CBF}"/>
              </a:ext>
            </a:extLst>
          </p:cNvPr>
          <p:cNvSpPr/>
          <p:nvPr/>
        </p:nvSpPr>
        <p:spPr>
          <a:xfrm rot="10800000">
            <a:off x="3113736" y="-1"/>
            <a:ext cx="2916526" cy="342899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034696-F58A-4F2D-B3D8-9888995A046F}"/>
              </a:ext>
            </a:extLst>
          </p:cNvPr>
          <p:cNvSpPr txBox="1"/>
          <p:nvPr/>
        </p:nvSpPr>
        <p:spPr>
          <a:xfrm>
            <a:off x="117876" y="3718852"/>
            <a:ext cx="8908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Montserrat" panose="00000500000000000000" pitchFamily="2" charset="0"/>
                <a:cs typeface="IRNazanin" panose="02000506000000020002" pitchFamily="2" charset="-78"/>
              </a:rPr>
              <a:t>Machine Learning: </a:t>
            </a:r>
          </a:p>
          <a:p>
            <a:pPr algn="ctr"/>
            <a:r>
              <a:rPr lang="en-US" sz="2800" b="1" dirty="0">
                <a:solidFill>
                  <a:schemeClr val="accent1"/>
                </a:solidFill>
                <a:latin typeface="Montserrat" panose="00000500000000000000" pitchFamily="2" charset="0"/>
                <a:cs typeface="IRNazanin" panose="02000506000000020002" pitchFamily="2" charset="-78"/>
              </a:rPr>
              <a:t>Parametric and Non-Parametric Testing </a:t>
            </a:r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36F2F6C4-D874-4BA9-8090-636457AB48B9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77A75C-7723-4ECB-B2AB-B54E4E9D5265}"/>
              </a:ext>
            </a:extLst>
          </p:cNvPr>
          <p:cNvSpPr/>
          <p:nvPr/>
        </p:nvSpPr>
        <p:spPr>
          <a:xfrm>
            <a:off x="1202035" y="5080032"/>
            <a:ext cx="67399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Professor: Dr. Amirkhani</a:t>
            </a:r>
            <a:endParaRPr lang="pt-BR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A1D018-5CFA-4A23-8AB0-AD2D18F89A05}"/>
              </a:ext>
            </a:extLst>
          </p:cNvPr>
          <p:cNvSpPr/>
          <p:nvPr/>
        </p:nvSpPr>
        <p:spPr>
          <a:xfrm>
            <a:off x="1202035" y="5752286"/>
            <a:ext cx="673993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March </a:t>
            </a:r>
            <a:r>
              <a:rPr lang="fa-IR" sz="2000" dirty="0">
                <a:latin typeface="IRNazanin" panose="02000506000000020002" pitchFamily="2" charset="-78"/>
                <a:cs typeface="IRNazanin" panose="02000506000000020002" pitchFamily="2" charset="-78"/>
              </a:rPr>
              <a:t>21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, 2025</a:t>
            </a:r>
            <a:endParaRPr lang="pt-BR" sz="20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06EC6E-FCCB-734E-3174-00AB4BD2E2C5}"/>
              </a:ext>
            </a:extLst>
          </p:cNvPr>
          <p:cNvSpPr txBox="1"/>
          <p:nvPr/>
        </p:nvSpPr>
        <p:spPr>
          <a:xfrm>
            <a:off x="3757095" y="1310756"/>
            <a:ext cx="1629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Department of Computer Engineering,</a:t>
            </a:r>
          </a:p>
          <a:p>
            <a:pPr algn="ctr"/>
            <a:r>
              <a:rPr lang="en-US" sz="1200" dirty="0"/>
              <a:t>Iran University of Science and Technology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D66817-A0A2-46A2-605E-F51940F9A6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988" y="0"/>
            <a:ext cx="1328020" cy="1328020"/>
          </a:xfrm>
          <a:prstGeom prst="rect">
            <a:avLst/>
          </a:prstGeom>
        </p:spPr>
      </p:pic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0F7F391F-2558-0B31-984C-EE0FE2A8E7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8" b="18748"/>
          <a:stretch>
            <a:fillRect/>
          </a:stretch>
        </p:blipFill>
        <p:spPr/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A14A02C1-4D85-0B3C-CF3C-D80F688C16B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8" b="131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5454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C3E964A-4ED4-4340-ADB5-46B59ECF3C12}"/>
              </a:ext>
            </a:extLst>
          </p:cNvPr>
          <p:cNvSpPr/>
          <p:nvPr/>
        </p:nvSpPr>
        <p:spPr>
          <a:xfrm flipH="1" flipV="1">
            <a:off x="5773881" y="0"/>
            <a:ext cx="2195742" cy="3370730"/>
          </a:xfrm>
          <a:prstGeom prst="triangle">
            <a:avLst>
              <a:gd name="adj" fmla="val 49930"/>
            </a:avLst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A2D1A3-B5EF-40AC-A67C-1ACDCB0F8DEB}"/>
              </a:ext>
            </a:extLst>
          </p:cNvPr>
          <p:cNvSpPr txBox="1"/>
          <p:nvPr/>
        </p:nvSpPr>
        <p:spPr>
          <a:xfrm>
            <a:off x="639035" y="1642354"/>
            <a:ext cx="27845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>
                <a:latin typeface="Montserrat" panose="00000500000000000000" pitchFamily="2" charset="0"/>
                <a:cs typeface="IRNazanin" panose="02000506000000020002" pitchFamily="2" charset="-78"/>
              </a:rPr>
              <a:t>Overview</a:t>
            </a:r>
            <a:endParaRPr lang="en-US" sz="1200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713D78B3-4AE3-4997-9A1B-D10F1D08DF99}"/>
              </a:ext>
            </a:extLst>
          </p:cNvPr>
          <p:cNvSpPr txBox="1">
            <a:spLocks/>
          </p:cNvSpPr>
          <p:nvPr/>
        </p:nvSpPr>
        <p:spPr>
          <a:xfrm>
            <a:off x="938538" y="2369976"/>
            <a:ext cx="3545632" cy="3713584"/>
          </a:xfrm>
          <a:prstGeom prst="rect">
            <a:avLst/>
          </a:prstGeom>
        </p:spPr>
        <p:txBody>
          <a:bodyPr vert="horz" lIns="68580" tIns="34290" rIns="68580" bIns="3429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K-Nearest Neighbors Algorithm</a:t>
            </a:r>
          </a:p>
          <a:p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Statistical  t-Test</a:t>
            </a:r>
          </a:p>
          <a:p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Kolmogorov-Smirnov Test</a:t>
            </a:r>
          </a:p>
          <a:p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Conclusion</a:t>
            </a: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2DDC18DE-1292-4C81-A8FB-D817CF0F9BD3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C445E35A-3EAE-411F-9875-B042D265031F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1236A26-B367-B96F-75A0-1F5FE2DF6F2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6" r="23256"/>
          <a:stretch>
            <a:fillRect/>
          </a:stretch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F5AC6E-87C4-CBBE-81BF-C4598425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CD2B85-C316-5844-9639-D39AE242B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64" y="986145"/>
            <a:ext cx="451143" cy="3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6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881B-6102-79E9-B5C3-AAF7F47E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0E77F61-BDA2-2A48-A711-86DF7D30EE52}"/>
              </a:ext>
            </a:extLst>
          </p:cNvPr>
          <p:cNvSpPr txBox="1"/>
          <p:nvPr/>
        </p:nvSpPr>
        <p:spPr>
          <a:xfrm>
            <a:off x="1885013" y="338361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anose="00000500000000000000" pitchFamily="2" charset="0"/>
                <a:cs typeface="IRNazanin" panose="02000506000000020002" pitchFamily="2" charset="-78"/>
              </a:rPr>
              <a:t>K-Nearest Neighbors Algorithm</a:t>
            </a: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664D93B4-97FA-4D5A-778C-E48527BDF38C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47215071-F7C2-A36F-19B2-B2F43E38B912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F80084AC-1CB0-58C5-E5CE-5FE4B8907D50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440E444-683F-C23E-8ACD-4E6FA7D85513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32AAC54-471E-2C69-E4C3-79A3807E4075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2CB2EF0E-5262-05A3-D2E2-D20956CF8588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6F9B11CD-2880-56A6-1812-C122AB806609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68467D6B-CC14-16C5-296B-E497C323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3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A3B102-8879-FB92-CF31-FB4107775EE1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729FDE-8DA7-F1C8-F834-B716075BEE6D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Introduction</a:t>
            </a:r>
            <a:endParaRPr lang="en-US" sz="1000" dirty="0">
              <a:solidFill>
                <a:schemeClr val="accent1">
                  <a:lumMod val="7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2DA36B-84B2-88C9-95FC-CE0D55F61ACB}"/>
              </a:ext>
            </a:extLst>
          </p:cNvPr>
          <p:cNvSpPr txBox="1"/>
          <p:nvPr/>
        </p:nvSpPr>
        <p:spPr>
          <a:xfrm>
            <a:off x="576632" y="267228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Instance-Based Learning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D413C-7D1F-4EDD-8D1D-ED26B2CACDB5}"/>
              </a:ext>
            </a:extLst>
          </p:cNvPr>
          <p:cNvSpPr txBox="1"/>
          <p:nvPr/>
        </p:nvSpPr>
        <p:spPr>
          <a:xfrm>
            <a:off x="950636" y="3655521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Lazy learning: No model training phase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F8308-17C6-AD49-6F6B-6FDAA21A4BF3}"/>
              </a:ext>
            </a:extLst>
          </p:cNvPr>
          <p:cNvSpPr txBox="1"/>
          <p:nvPr/>
        </p:nvSpPr>
        <p:spPr>
          <a:xfrm>
            <a:off x="587144" y="1505549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Supervised Machine learning algorithm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6D36C-5B42-AB26-2A53-47721609B812}"/>
              </a:ext>
            </a:extLst>
          </p:cNvPr>
          <p:cNvSpPr txBox="1"/>
          <p:nvPr/>
        </p:nvSpPr>
        <p:spPr>
          <a:xfrm>
            <a:off x="903670" y="2074075"/>
            <a:ext cx="73088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Regression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973F346D-8D89-AB2F-5887-CC03FF4D7478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6680A0"/>
                </a:solidFill>
              </a:rPr>
              <a:t>T- Test</a:t>
            </a: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40E8338-8A79-20E9-C6D2-60DF24211275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D7382034-5C73-0ACD-290C-ED2CDD6082E9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8C5153-67F7-9D7E-28FF-C440B8ADD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5060C5F3-651C-BFD4-C3AF-9F94588F3C26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319B3B-FF03-8FF6-352C-270503757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1"/>
          <a:stretch/>
        </p:blipFill>
        <p:spPr>
          <a:xfrm>
            <a:off x="4826515" y="2059528"/>
            <a:ext cx="3800643" cy="31147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FFB8A4-2A9E-9D78-2316-42C966E0265E}"/>
              </a:ext>
            </a:extLst>
          </p:cNvPr>
          <p:cNvSpPr txBox="1"/>
          <p:nvPr/>
        </p:nvSpPr>
        <p:spPr>
          <a:xfrm>
            <a:off x="5283035" y="52656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RNazanin" panose="02000506000000020002" pitchFamily="2" charset="-78"/>
                <a:cs typeface="IRNazanin" panose="02000506000000020002" pitchFamily="2" charset="-78"/>
              </a:rPr>
              <a:t>Ref: ealizadeh.com/blog/knn-and-kmeans/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57157D-94F8-910D-8577-68493F8CED2C}"/>
              </a:ext>
            </a:extLst>
          </p:cNvPr>
          <p:cNvSpPr txBox="1"/>
          <p:nvPr/>
        </p:nvSpPr>
        <p:spPr>
          <a:xfrm>
            <a:off x="596459" y="3949665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Voting System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A9172-7231-B2F4-1152-69391C4D552A}"/>
              </a:ext>
            </a:extLst>
          </p:cNvPr>
          <p:cNvSpPr txBox="1"/>
          <p:nvPr/>
        </p:nvSpPr>
        <p:spPr>
          <a:xfrm>
            <a:off x="939878" y="4576713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Majority vote (classification)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F471C3-6309-DEF4-E962-94350AE5957F}"/>
              </a:ext>
            </a:extLst>
          </p:cNvPr>
          <p:cNvSpPr txBox="1"/>
          <p:nvPr/>
        </p:nvSpPr>
        <p:spPr>
          <a:xfrm>
            <a:off x="939878" y="5006649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Average (regression)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B96F6-BC06-2555-3D0D-53A34C7B92F2}"/>
              </a:ext>
            </a:extLst>
          </p:cNvPr>
          <p:cNvSpPr txBox="1"/>
          <p:nvPr/>
        </p:nvSpPr>
        <p:spPr>
          <a:xfrm>
            <a:off x="963818" y="3236412"/>
            <a:ext cx="4986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Stores all training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AA0C7-4B12-84DD-3329-A80E9CE7FC2E}"/>
              </a:ext>
            </a:extLst>
          </p:cNvPr>
          <p:cNvSpPr txBox="1"/>
          <p:nvPr/>
        </p:nvSpPr>
        <p:spPr>
          <a:xfrm>
            <a:off x="553622" y="533795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Hyper-parameters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F8D8B-B8D2-3719-FE0A-93CBDDB97533}"/>
              </a:ext>
            </a:extLst>
          </p:cNvPr>
          <p:cNvSpPr txBox="1"/>
          <p:nvPr/>
        </p:nvSpPr>
        <p:spPr>
          <a:xfrm>
            <a:off x="897041" y="5965005"/>
            <a:ext cx="5933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RNazanin" panose="02000506000000020002" pitchFamily="2" charset="-78"/>
                <a:cs typeface="IRNazanin" panose="02000506000000020002" pitchFamily="2" charset="-78"/>
              </a:rPr>
              <a:t>Number of neighbors (k), distance metric and weighting scheme</a:t>
            </a:r>
            <a:endParaRPr lang="en-US" sz="20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8E8296EC-5F6B-81E1-9292-A57B53A3792B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2249667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/>
      <p:bldP spid="14" grpId="0"/>
      <p:bldP spid="5" grpId="0"/>
      <p:bldP spid="16" grpId="0"/>
      <p:bldP spid="18" grpId="0"/>
      <p:bldP spid="19" grpId="0"/>
      <p:bldP spid="23" grpId="0"/>
      <p:bldP spid="6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CCBAE-C31B-D87D-5E84-CE481448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B32A334B-374B-149B-9236-17528945B89C}"/>
              </a:ext>
            </a:extLst>
          </p:cNvPr>
          <p:cNvSpPr txBox="1"/>
          <p:nvPr/>
        </p:nvSpPr>
        <p:spPr>
          <a:xfrm>
            <a:off x="1885013" y="338361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anose="00000500000000000000" pitchFamily="2" charset="0"/>
                <a:cs typeface="IRNazanin" panose="02000506000000020002" pitchFamily="2" charset="-78"/>
              </a:rPr>
              <a:t>K-Nearest Neighbors Algorithm</a:t>
            </a: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E0B68421-9223-C7E1-CA5B-3B3C16F17C94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6A71A1F7-46A4-CB44-A2F9-2F6DD272A4B3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1976D670-AF5B-072E-7A61-11B154D76166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BB6EE9A-8B05-F8B0-8DD5-C85FFF941B7F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7AA817E-E9B6-75A5-05C0-84C850F79C8A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AD55E941-4498-5CC8-DBB1-B0B30384F7AF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6E3F91F8-9365-23FE-C654-234277339915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E29DB373-F11C-3470-DDFF-6E338C79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4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647C66-1695-4BC2-3ECB-A8630CB8EA86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3EF72-2DE0-15F1-8B24-E56E3B6813CB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Important Points</a:t>
            </a:r>
            <a:endParaRPr lang="en-US" sz="1000" dirty="0">
              <a:solidFill>
                <a:schemeClr val="accent1">
                  <a:lumMod val="7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863E4-91B9-17E5-47F9-2711A311C5A5}"/>
              </a:ext>
            </a:extLst>
          </p:cNvPr>
          <p:cNvSpPr txBox="1"/>
          <p:nvPr/>
        </p:nvSpPr>
        <p:spPr>
          <a:xfrm>
            <a:off x="587144" y="1505549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Non-parametric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2081F-BD45-4825-2D44-C6C298FCC1E4}"/>
              </a:ext>
            </a:extLst>
          </p:cNvPr>
          <p:cNvSpPr txBox="1"/>
          <p:nvPr/>
        </p:nvSpPr>
        <p:spPr>
          <a:xfrm>
            <a:off x="903670" y="2074075"/>
            <a:ext cx="7308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No assumption about data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8BF4E8-C534-BF28-9C07-5FA5EF3F1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345EAF36-B8CD-6A48-2BAB-BEC114D96C2C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242434A-2DB5-20E9-C78A-CD6E17E57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398939"/>
              </p:ext>
            </p:extLst>
          </p:nvPr>
        </p:nvGraphicFramePr>
        <p:xfrm>
          <a:off x="869102" y="2666586"/>
          <a:ext cx="7405797" cy="357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103">
                  <a:extLst>
                    <a:ext uri="{9D8B030D-6E8A-4147-A177-3AD203B41FA5}">
                      <a16:colId xmlns:a16="http://schemas.microsoft.com/office/drawing/2014/main" val="1758907162"/>
                    </a:ext>
                  </a:extLst>
                </a:gridCol>
                <a:gridCol w="4141694">
                  <a:extLst>
                    <a:ext uri="{9D8B030D-6E8A-4147-A177-3AD203B41FA5}">
                      <a16:colId xmlns:a16="http://schemas.microsoft.com/office/drawing/2014/main" val="3781192134"/>
                    </a:ext>
                  </a:extLst>
                </a:gridCol>
              </a:tblGrid>
              <a:tr h="71494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Pros</a:t>
                      </a:r>
                    </a:p>
                  </a:txBody>
                  <a:tcPr marL="105346" marR="105346" marT="52673" marB="526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Cons</a:t>
                      </a:r>
                    </a:p>
                  </a:txBody>
                  <a:tcPr marL="105346" marR="105346" marT="52673" marB="52673" anchor="ctr"/>
                </a:tc>
                <a:extLst>
                  <a:ext uri="{0D108BD9-81ED-4DB2-BD59-A6C34878D82A}">
                    <a16:rowId xmlns:a16="http://schemas.microsoft.com/office/drawing/2014/main" val="654709161"/>
                  </a:ext>
                </a:extLst>
              </a:tr>
              <a:tr h="7149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Simple and easy to implement</a:t>
                      </a:r>
                    </a:p>
                  </a:txBody>
                  <a:tcPr marL="105346" marR="105346" marT="52673" marB="526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Computationally expensive for large datasets</a:t>
                      </a:r>
                    </a:p>
                  </a:txBody>
                  <a:tcPr marL="105346" marR="105346" marT="52673" marB="52673" anchor="ctr"/>
                </a:tc>
                <a:extLst>
                  <a:ext uri="{0D108BD9-81ED-4DB2-BD59-A6C34878D82A}">
                    <a16:rowId xmlns:a16="http://schemas.microsoft.com/office/drawing/2014/main" val="3330649714"/>
                  </a:ext>
                </a:extLst>
              </a:tr>
              <a:tr h="7149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Performs well with low-dimensional data</a:t>
                      </a:r>
                    </a:p>
                  </a:txBody>
                  <a:tcPr marL="105346" marR="105346" marT="52673" marB="526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High memory usage due to storing all data</a:t>
                      </a:r>
                    </a:p>
                  </a:txBody>
                  <a:tcPr marL="105346" marR="105346" marT="52673" marB="52673" anchor="ctr"/>
                </a:tc>
                <a:extLst>
                  <a:ext uri="{0D108BD9-81ED-4DB2-BD59-A6C34878D82A}">
                    <a16:rowId xmlns:a16="http://schemas.microsoft.com/office/drawing/2014/main" val="3723474960"/>
                  </a:ext>
                </a:extLst>
              </a:tr>
              <a:tr h="7149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Adaptable to different applications</a:t>
                      </a:r>
                    </a:p>
                  </a:txBody>
                  <a:tcPr marL="105346" marR="105346" marT="52673" marB="526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Sensitive to noise and outliers</a:t>
                      </a:r>
                    </a:p>
                  </a:txBody>
                  <a:tcPr marL="105346" marR="105346" marT="52673" marB="52673" anchor="ctr"/>
                </a:tc>
                <a:extLst>
                  <a:ext uri="{0D108BD9-81ED-4DB2-BD59-A6C34878D82A}">
                    <a16:rowId xmlns:a16="http://schemas.microsoft.com/office/drawing/2014/main" val="2778473988"/>
                  </a:ext>
                </a:extLst>
              </a:tr>
              <a:tr h="71494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Supports various distance metrics</a:t>
                      </a:r>
                    </a:p>
                  </a:txBody>
                  <a:tcPr marL="105346" marR="105346" marT="52673" marB="526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IRNazanin" panose="02000506000000020002" pitchFamily="2" charset="-78"/>
                          <a:cs typeface="IRNazanin" panose="02000506000000020002" pitchFamily="2" charset="-78"/>
                        </a:rPr>
                        <a:t>Feature scaling is required for proper distance calculation</a:t>
                      </a:r>
                    </a:p>
                  </a:txBody>
                  <a:tcPr marL="105346" marR="105346" marT="52673" marB="52673" anchor="ctr"/>
                </a:tc>
                <a:extLst>
                  <a:ext uri="{0D108BD9-81ED-4DB2-BD59-A6C34878D82A}">
                    <a16:rowId xmlns:a16="http://schemas.microsoft.com/office/drawing/2014/main" val="2389775401"/>
                  </a:ext>
                </a:extLst>
              </a:tr>
            </a:tbl>
          </a:graphicData>
        </a:graphic>
      </p:graphicFrame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0CA44E9-590D-43D8-4989-38EBE262E702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6680A0"/>
                </a:solidFill>
              </a:rPr>
              <a:t>T- Test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DB006257-E4B3-A59D-6371-A9502DEE2CAA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1A216D5-5E96-1527-A397-63D1B70A5BB7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9468851D-5BB4-4B74-918C-41ED3AA6CF36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2399266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7DC14-86CB-24FE-7069-1E0FF7A1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DB2C79F5-6371-E072-0532-519E45214303}"/>
              </a:ext>
            </a:extLst>
          </p:cNvPr>
          <p:cNvSpPr txBox="1"/>
          <p:nvPr/>
        </p:nvSpPr>
        <p:spPr>
          <a:xfrm>
            <a:off x="1885013" y="338361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anose="00000500000000000000" pitchFamily="2" charset="0"/>
                <a:cs typeface="IRNazanin" panose="02000506000000020002" pitchFamily="2" charset="-78"/>
              </a:rPr>
              <a:t>K-Nearest Neighbors Algorithm</a:t>
            </a: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97A2AFCA-B611-64D6-AAB2-379DE2738194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F51427F2-1F86-C462-DA82-559918CBBC69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8B551AB9-6E70-1795-81B2-F757844F6289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4856734-4FD5-8E86-B87D-7059AE31A526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A392BAD-BD57-B950-5EE9-02C453FFEC5E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306F3C90-8A26-E4B2-37BA-B6F6BBCC4565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94735369-8C17-4F0B-2B47-4A1C59C0E8D8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A45A63A2-864D-7EAB-428C-D72D56D8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5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C0990E-71D9-40C5-D9FA-09A87F9BB41C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A37F9-5A69-496B-02A8-04087CB75F05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Important Points</a:t>
            </a:r>
            <a:endParaRPr lang="en-US" sz="1000" dirty="0">
              <a:solidFill>
                <a:schemeClr val="accent1">
                  <a:lumMod val="7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2A930-3DBB-F17B-72AA-478595867385}"/>
              </a:ext>
            </a:extLst>
          </p:cNvPr>
          <p:cNvSpPr txBox="1"/>
          <p:nvPr/>
        </p:nvSpPr>
        <p:spPr>
          <a:xfrm>
            <a:off x="587144" y="1505549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Density Estimation with KNN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EC7D4D-4420-3132-F076-6E55A7D82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F3CCC14E-79B8-0994-6C56-B5BBA9585177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0B6DBC4-0623-5E8D-9765-8926696E2986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6680A0"/>
                </a:solidFill>
              </a:rPr>
              <a:t>T- Test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5730DB0-C8A2-659C-E84D-DB70F4DD057F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61E46DC-7208-DBE4-CB28-9B44CD7704D8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DC4A66D-E9FA-C457-AEB1-DC162511D742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2EE37-D061-9581-5C45-C56EB6290E05}"/>
              </a:ext>
            </a:extLst>
          </p:cNvPr>
          <p:cNvSpPr txBox="1"/>
          <p:nvPr/>
        </p:nvSpPr>
        <p:spPr>
          <a:xfrm>
            <a:off x="1080736" y="2219579"/>
            <a:ext cx="66109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Estimate the probability density of data points in a dataset.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EE454A-1E84-95DB-CA5F-5F93262E3A53}"/>
                  </a:ext>
                </a:extLst>
              </p:cNvPr>
              <p:cNvSpPr txBox="1"/>
              <p:nvPr/>
            </p:nvSpPr>
            <p:spPr>
              <a:xfrm>
                <a:off x="1942040" y="2850008"/>
                <a:ext cx="4716629" cy="7593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𝐾𝑁𝑁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EE454A-1E84-95DB-CA5F-5F93262E3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040" y="2850008"/>
                <a:ext cx="4716629" cy="759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D6178D-9268-46ED-E6E3-0DED6C8A2329}"/>
                  </a:ext>
                </a:extLst>
              </p:cNvPr>
              <p:cNvSpPr txBox="1"/>
              <p:nvPr/>
            </p:nvSpPr>
            <p:spPr>
              <a:xfrm>
                <a:off x="2251805" y="3817409"/>
                <a:ext cx="1667444" cy="1016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D6178D-9268-46ED-E6E3-0DED6C8A2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805" y="3817409"/>
                <a:ext cx="1667444" cy="1016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3DEBC5-C261-92CD-088B-F9E146596494}"/>
                  </a:ext>
                </a:extLst>
              </p:cNvPr>
              <p:cNvSpPr txBox="1"/>
              <p:nvPr/>
            </p:nvSpPr>
            <p:spPr>
              <a:xfrm>
                <a:off x="4642091" y="4157883"/>
                <a:ext cx="17826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3DEBC5-C261-92CD-088B-F9E146596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91" y="4157883"/>
                <a:ext cx="1782604" cy="307777"/>
              </a:xfrm>
              <a:prstGeom prst="rect">
                <a:avLst/>
              </a:prstGeom>
              <a:blipFill>
                <a:blip r:embed="rId6"/>
                <a:stretch>
                  <a:fillRect l="-2730" r="-273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027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3423-5CFE-9236-BC46-2E5056F1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585D509F-7280-4699-4B1E-4DCA73B52327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F3B3EE34-1B1E-4AE5-4319-4EE667233C00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8B3A818A-9A06-B741-581D-C3DF6F674797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5326E0A1-E525-7472-3BA2-93581A7FE3EB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28BB1F0-B912-E1FD-11F5-92CD8B06E450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1E07311-5C64-FFF8-0349-4129EBCA4D0D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D32EEC85-06D8-E7BF-0A0D-62DF562395FB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E68CB2BD-E5B6-CF12-E7CB-3B56505FD6E3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DD538477-2107-ADA6-14A9-F0BAD4C9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6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28C0A8-7399-93B7-83E1-FE4E64E35C4E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20E67-AA09-3A81-8290-144A1FE6FAAC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Introduction</a:t>
            </a:r>
            <a:endParaRPr lang="en-US" sz="1000" dirty="0">
              <a:solidFill>
                <a:schemeClr val="accent1">
                  <a:lumMod val="7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C6D2E-E2A7-DE06-6BF5-7D50DA5A25D2}"/>
              </a:ext>
            </a:extLst>
          </p:cNvPr>
          <p:cNvSpPr txBox="1"/>
          <p:nvPr/>
        </p:nvSpPr>
        <p:spPr>
          <a:xfrm>
            <a:off x="576632" y="282289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Parametric 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C49F6-5634-2D5F-A376-676078F1A65A}"/>
              </a:ext>
            </a:extLst>
          </p:cNvPr>
          <p:cNvSpPr txBox="1"/>
          <p:nvPr/>
        </p:nvSpPr>
        <p:spPr>
          <a:xfrm>
            <a:off x="920051" y="3449945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require specific assumptions about the distribution of data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2A7481-736C-65BF-7170-3E16435BA59C}"/>
              </a:ext>
            </a:extLst>
          </p:cNvPr>
          <p:cNvSpPr/>
          <p:nvPr/>
        </p:nvSpPr>
        <p:spPr>
          <a:xfrm>
            <a:off x="1212413" y="4059706"/>
            <a:ext cx="2151530" cy="92713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Normal Distribution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413FAF-12F5-8EC2-65B1-04088F9280A8}"/>
              </a:ext>
            </a:extLst>
          </p:cNvPr>
          <p:cNvSpPr/>
          <p:nvPr/>
        </p:nvSpPr>
        <p:spPr>
          <a:xfrm>
            <a:off x="3699223" y="4059706"/>
            <a:ext cx="2151530" cy="9271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Interval or Ratio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47A737-05C3-415C-C985-F5EE862C5319}"/>
              </a:ext>
            </a:extLst>
          </p:cNvPr>
          <p:cNvSpPr/>
          <p:nvPr/>
        </p:nvSpPr>
        <p:spPr>
          <a:xfrm>
            <a:off x="6186033" y="4059706"/>
            <a:ext cx="2151530" cy="92713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Homogeneity of Variances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FA948-820A-E881-1CA1-4511B94E37A3}"/>
              </a:ext>
            </a:extLst>
          </p:cNvPr>
          <p:cNvSpPr txBox="1"/>
          <p:nvPr/>
        </p:nvSpPr>
        <p:spPr>
          <a:xfrm>
            <a:off x="920051" y="5325663"/>
            <a:ext cx="6943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In the </a:t>
            </a:r>
            <a:r>
              <a:rPr lang="en-US" sz="2000" b="1" dirty="0">
                <a:latin typeface="IRNazanin" panose="02000506000000020002" pitchFamily="2" charset="-78"/>
                <a:cs typeface="IRNazanin" panose="02000506000000020002" pitchFamily="2" charset="-78"/>
              </a:rPr>
              <a:t>independent t-Test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, the variances of the two groups should be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equal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 Otherwise using  </a:t>
            </a:r>
            <a:r>
              <a:rPr lang="en-US" sz="2000" b="1" dirty="0">
                <a:latin typeface="IRNazanin" panose="02000506000000020002" pitchFamily="2" charset="-78"/>
                <a:cs typeface="IRNazanin" panose="02000506000000020002" pitchFamily="2" charset="-78"/>
              </a:rPr>
              <a:t>Welch’s t-Test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 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4BE380-5DF5-5B34-FBCB-99C55571147C}"/>
              </a:ext>
            </a:extLst>
          </p:cNvPr>
          <p:cNvSpPr txBox="1"/>
          <p:nvPr/>
        </p:nvSpPr>
        <p:spPr>
          <a:xfrm>
            <a:off x="587144" y="1505549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Statistical method used to </a:t>
            </a:r>
            <a:r>
              <a:rPr lang="en-US" sz="2400" u="sng" dirty="0">
                <a:latin typeface="IRNazanin" panose="02000506000000020002" pitchFamily="2" charset="-78"/>
                <a:cs typeface="IRNazanin" panose="02000506000000020002" pitchFamily="2" charset="-78"/>
              </a:rPr>
              <a:t>compare means </a:t>
            </a: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under different conditions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A7E07-332C-CD7B-52E9-88A126A86028}"/>
              </a:ext>
            </a:extLst>
          </p:cNvPr>
          <p:cNvSpPr txBox="1"/>
          <p:nvPr/>
        </p:nvSpPr>
        <p:spPr>
          <a:xfrm>
            <a:off x="903670" y="2074075"/>
            <a:ext cx="7308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significant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randomness and sampling fluctuations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8EA79-BEEA-7553-3682-76642262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FC625DCA-C8BE-A4E2-9053-A96DC926D7AE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5123D17C-7C44-8C7B-08B0-4FB42270E1BB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E25848A8-C54C-6738-7B49-CEA6AF2C5CDE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37736314-2390-58A1-BFA4-DF5EE8533321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BF205E5-0EE9-973E-E0A8-E40F6216622F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870460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/>
      <p:bldP spid="6" grpId="0" animBg="1"/>
      <p:bldP spid="9" grpId="0" animBg="1"/>
      <p:bldP spid="10" grpId="0" animBg="1"/>
      <p:bldP spid="11" grpId="0"/>
      <p:bldP spid="1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F8F2-0618-F205-EA8A-6453DB80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FB23DBBE-B830-2CA1-3CDF-9543111ED574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88E459F0-E9CE-8BC9-FC79-DBFCEEF68FDC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075BECEA-7A33-1B37-2F35-3CEFD926ECE6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45A1381-BB24-07F6-AF22-528EE874B053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4806CBB-A801-2A17-2C49-2EE43EE8496D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6D59512B-D801-7BF7-1165-CFCA011727ED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112C0205-C005-B977-3B4E-91E1888FC062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2297053A-BD59-FADA-0709-04E3DCC0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7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592DBC5-6806-3499-544E-8FBA6DD478EF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043BAF-1B0E-95B6-F38E-5CB884DE468B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states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34D33A-1BC0-A6A1-9183-C0F0D147812E}"/>
              </a:ext>
            </a:extLst>
          </p:cNvPr>
          <p:cNvSpPr txBox="1"/>
          <p:nvPr/>
        </p:nvSpPr>
        <p:spPr>
          <a:xfrm>
            <a:off x="587144" y="255099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 Independent 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75FD1-56C6-B9AB-BEC7-5B504E9886D4}"/>
              </a:ext>
            </a:extLst>
          </p:cNvPr>
          <p:cNvSpPr txBox="1"/>
          <p:nvPr/>
        </p:nvSpPr>
        <p:spPr>
          <a:xfrm>
            <a:off x="920051" y="3210473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means of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 independent populations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with equal variance.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F9B780-0591-F837-BDB5-AC10EF7E7C27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One-Sample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EC5E7-8187-AAAE-73D1-B3B1026E0248}"/>
              </a:ext>
            </a:extLst>
          </p:cNvPr>
          <p:cNvSpPr txBox="1"/>
          <p:nvPr/>
        </p:nvSpPr>
        <p:spPr>
          <a:xfrm>
            <a:off x="612019" y="408411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Paired 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049F7C-3492-2F47-8B00-A1305E3C1DFC}"/>
              </a:ext>
            </a:extLst>
          </p:cNvPr>
          <p:cNvSpPr txBox="1"/>
          <p:nvPr/>
        </p:nvSpPr>
        <p:spPr>
          <a:xfrm>
            <a:off x="920050" y="4732437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 dependent variables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with equal variance.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EDD6FA-86D5-0F4C-E8FC-0D9D0328108E}"/>
              </a:ext>
            </a:extLst>
          </p:cNvPr>
          <p:cNvSpPr txBox="1"/>
          <p:nvPr/>
        </p:nvSpPr>
        <p:spPr>
          <a:xfrm>
            <a:off x="920051" y="3665427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EXP: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average height of two groups of people.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66B751-C746-5195-C4D8-FA43015AA67A}"/>
              </a:ext>
            </a:extLst>
          </p:cNvPr>
          <p:cNvSpPr txBox="1"/>
          <p:nvPr/>
        </p:nvSpPr>
        <p:spPr>
          <a:xfrm>
            <a:off x="913944" y="5498526"/>
            <a:ext cx="7796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EXP: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Effect of blood pressure medication on patients before and after administration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AD6D9-302C-D9A0-7615-C309D773245F}"/>
              </a:ext>
            </a:extLst>
          </p:cNvPr>
          <p:cNvSpPr txBox="1"/>
          <p:nvPr/>
        </p:nvSpPr>
        <p:spPr>
          <a:xfrm>
            <a:off x="938538" y="2126809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a-IR" sz="2000" dirty="0"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sample mean with a known fixed value.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EA4D9C-18CA-28FA-839F-CA3E6FC7C7C8}"/>
              </a:ext>
            </a:extLst>
          </p:cNvPr>
          <p:cNvSpPr txBox="1"/>
          <p:nvPr/>
        </p:nvSpPr>
        <p:spPr>
          <a:xfrm>
            <a:off x="913944" y="5121380"/>
            <a:ext cx="7148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Used when a quantitative variable is measured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twice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 per observation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2DE537-458E-A210-EB11-5A493C954D07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67FE5-AD04-7D4A-FCEF-BEB79C980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6CF84AF7-1215-E77F-36EF-15B32201B34C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5E76123-5456-7DB9-C3D8-1DF1FF01DF03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5685AF1-5DD5-D05F-4754-18915BAB3A6D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A359BB7-ADCB-D6D9-429B-91693A2F4EF9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E82FD635-8F1B-3F60-297D-0C3D8248EAAB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604931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/>
      <p:bldP spid="14" grpId="0"/>
      <p:bldP spid="3" grpId="0"/>
      <p:bldP spid="17" grpId="0"/>
      <p:bldP spid="18" grpId="0"/>
      <p:bldP spid="19" grpId="0"/>
      <p:bldP spid="20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3304-DBF5-1288-755A-E051191F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C6A80E9F-B475-7C71-1AFA-95888F8E89BE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892470E6-88B7-C128-BE7B-A74F4C450783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F956102F-5BDC-9CBA-5248-48ECB0704B0D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5AF14E-CE32-C463-CA1A-2C30804E82C4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FCBF67B-52A2-0BA4-6C84-81DD55B19801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B8B2BF37-5192-E7C3-CEE5-2EA6299F26E3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A8AAF21E-0E73-85AE-06F6-B50232C79247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FFFC77F1-AE70-25B2-214F-3F109BBB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8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D789BD-71E0-F004-1D2D-ABA3ABA8A31D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1CDA73-D11E-8B6D-BDC6-5A75D0D1EFAD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Formula</a:t>
            </a:r>
            <a:endParaRPr lang="en-US" sz="1000" dirty="0">
              <a:solidFill>
                <a:srgbClr val="002060"/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44D6EA-A481-F966-9156-9FD4F66E6ED3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One-Sample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F130C4-23C6-5CF2-E2CA-26A94D600280}"/>
              </a:ext>
            </a:extLst>
          </p:cNvPr>
          <p:cNvSpPr txBox="1"/>
          <p:nvPr/>
        </p:nvSpPr>
        <p:spPr>
          <a:xfrm>
            <a:off x="938538" y="2114355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a-IR" sz="2000" dirty="0"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sample mean with a known fixed value.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A72B5F-1A8D-033F-434B-AE422D14DFC1}"/>
                  </a:ext>
                </a:extLst>
              </p:cNvPr>
              <p:cNvSpPr txBox="1"/>
              <p:nvPr/>
            </p:nvSpPr>
            <p:spPr>
              <a:xfrm>
                <a:off x="-810290" y="3055352"/>
                <a:ext cx="6574392" cy="11396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A72B5F-1A8D-033F-434B-AE422D14D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10290" y="3055352"/>
                <a:ext cx="6574392" cy="11396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C0FBF1-409F-50C7-22F9-E07343070BAD}"/>
                  </a:ext>
                </a:extLst>
              </p:cNvPr>
              <p:cNvSpPr txBox="1"/>
              <p:nvPr/>
            </p:nvSpPr>
            <p:spPr>
              <a:xfrm>
                <a:off x="348858" y="4651191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C0FBF1-409F-50C7-22F9-E07343070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58" y="4651191"/>
                <a:ext cx="4572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2B1B4A0-F99C-EE12-6E5A-D30C7F218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7CC79B21-FD44-A7FC-B2D8-81AD572AADCE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71257-A61B-257F-9C99-C430DD5AE27A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CCBE72-6D51-7497-74B1-47A2F21D76A9}"/>
                  </a:ext>
                </a:extLst>
              </p:cNvPr>
              <p:cNvSpPr txBox="1"/>
              <p:nvPr/>
            </p:nvSpPr>
            <p:spPr>
              <a:xfrm>
                <a:off x="3336453" y="2804489"/>
                <a:ext cx="4975412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CCBE72-6D51-7497-74B1-47A2F21D7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453" y="2804489"/>
                <a:ext cx="4975412" cy="1183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Parallelogram 17">
            <a:extLst>
              <a:ext uri="{FF2B5EF4-FFF2-40B4-BE49-F238E27FC236}">
                <a16:creationId xmlns:a16="http://schemas.microsoft.com/office/drawing/2014/main" id="{C1937C3C-C39A-D9C5-C8C7-620AE237171C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8E6CB3E-F9DD-64A9-EA55-A03E27734DB0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9B2372AE-F357-3821-7ECB-A9DA964B2949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C8D8E8EA-EB63-B1C4-9EB4-2543689F3E94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190206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9F0C-93F9-A9BC-5BE8-8167B0AB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E90CE2AD-275F-35F8-4938-FBA8F7913EAB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DB178D50-56CF-8205-6189-FFC65FEDDA1F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5398E86E-230B-0A18-C61E-064EB5DBC996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30A7C2-5A2D-8917-A280-CE036528CA90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6547B0-4749-F978-22D5-B593FC05FA6E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E864ADDD-F048-A70A-B43F-0F559759EDA1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3C379E76-35F4-B639-0823-D881BFDD9436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39BFC568-AB83-BC55-1A19-A68F6CAB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9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69DF01-EFCC-81E3-E82A-23D0294E344E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0B49F-F261-4408-100D-624E47D17EFA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Example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71CCB-353E-7FE4-D9FA-48BF8D321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01A871-D16E-82FE-5E3D-757E7E4E1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t="18480" r="8131" b="19400"/>
          <a:stretch/>
        </p:blipFill>
        <p:spPr>
          <a:xfrm>
            <a:off x="783517" y="2826362"/>
            <a:ext cx="7576967" cy="22905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321D01-7972-162E-A4BA-3D9BDF41E326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One-Sample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008830-D1BB-8308-AD69-E699E7A9BDEF}"/>
              </a:ext>
            </a:extLst>
          </p:cNvPr>
          <p:cNvSpPr txBox="1"/>
          <p:nvPr/>
        </p:nvSpPr>
        <p:spPr>
          <a:xfrm>
            <a:off x="938538" y="2114355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a-IR" sz="2000" dirty="0"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sample mean with a known fixed value.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1BA99F0F-B8C0-64F7-DCDE-6336EA6B8915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4C509-1590-2E75-40FC-095A9DD5E03F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3EE4226-0E6D-ED48-C553-DBA95E9B86E5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9F8FC53-5E7F-43E5-BC8C-9AD14C391C74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4F753C6-ACA7-D8B6-D5B2-7214AF75CE19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296AADBD-E943-8CB4-8BDD-0FC4C5D9B774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225023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D9AB0-1355-DD75-0360-9FB0A024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38D7626A-044C-2AB4-ED87-414D2EAEC9C9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B374A2FE-0F07-FF47-1C62-44A854803309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6B9B9620-0635-A7D8-03F1-7D80D27256FF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C7E8798-42AE-FE6E-93D3-EC48AF3AECDF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1B0261F-D1DF-9DAD-0000-AD25C971EC73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C8BE7AA2-A0D0-B66A-C29B-0BD365D798E5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75F6BF2A-F86D-84F0-ECAC-390840E1C55E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78E329E0-0619-7908-7F60-D5E16C4A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10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C7908E-DCCF-D7F1-4CBD-C52E88291DF9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A2485-DBFB-130D-75C0-C9B744A701A9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Formula</a:t>
            </a:r>
            <a:endParaRPr lang="en-US" sz="1000" dirty="0">
              <a:solidFill>
                <a:srgbClr val="002060"/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FCDA53-9877-649F-BFBB-02BB281BF856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 Independent 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88D266-D4D5-ABC0-2374-400D77191246}"/>
                  </a:ext>
                </a:extLst>
              </p:cNvPr>
              <p:cNvSpPr txBox="1"/>
              <p:nvPr/>
            </p:nvSpPr>
            <p:spPr>
              <a:xfrm>
                <a:off x="777983" y="3232781"/>
                <a:ext cx="6574392" cy="1141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,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88D266-D4D5-ABC0-2374-400D77191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83" y="3232781"/>
                <a:ext cx="6574392" cy="1141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7F24B56-94D6-50B2-A46C-84735DC8711E}"/>
              </a:ext>
            </a:extLst>
          </p:cNvPr>
          <p:cNvSpPr txBox="1"/>
          <p:nvPr/>
        </p:nvSpPr>
        <p:spPr>
          <a:xfrm>
            <a:off x="885190" y="2081199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means of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 independent populations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with equal variance.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9AEE0-E696-B73F-B32F-EDCEF6C77BA8}"/>
              </a:ext>
            </a:extLst>
          </p:cNvPr>
          <p:cNvSpPr txBox="1"/>
          <p:nvPr/>
        </p:nvSpPr>
        <p:spPr>
          <a:xfrm>
            <a:off x="885190" y="2536153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EXP: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average height of two groups of people.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1A85A2-9079-4551-5F5F-1AA552FC08BB}"/>
                  </a:ext>
                </a:extLst>
              </p:cNvPr>
              <p:cNvSpPr txBox="1"/>
              <p:nvPr/>
            </p:nvSpPr>
            <p:spPr>
              <a:xfrm>
                <a:off x="1201284" y="4787869"/>
                <a:ext cx="4609274" cy="909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1A85A2-9079-4551-5F5F-1AA552FC0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284" y="4787869"/>
                <a:ext cx="4609274" cy="909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02E29B1-B9BA-BDA0-1098-4C05BB929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258E97B7-EB42-5E81-27E5-3C1B16C9EA4A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658A3-E73D-2D95-316A-437ED8945846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DEDB718-639B-DDE3-FCB4-5A20FB4E9392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0D86B430-979D-0A16-7164-8D2ECEEDBE50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3C2537FE-944B-123F-D499-121AAD57F74F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3F4786F5-4663-01A3-75D3-B05F5FB9C43F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757181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0959-F0E6-74D7-222F-641E168A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09A75595-F25B-1E61-E3F9-DA181232EE36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80130A7C-0D46-BBE1-E43F-EEF474CABE93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7E6ABA77-F1AE-4401-870D-6A8BCC9D99E5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CB706B7-330A-946E-9C42-D26AFB4DBA80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F5F15FE-0374-D7CD-086B-401CE2F96F24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18310" y="6500361"/>
            <a:ext cx="2727297" cy="17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361ECE1A-DBFD-2C0D-BA5B-BDFD911BB742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5BFF11CE-B4AA-7603-1B07-B0617134DE3E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E0600AAC-DA11-C10E-FECA-AC770145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11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F05A75-4C7E-9E55-03BD-42E72B35CB43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A2006-1506-5725-8838-3EDCA7E27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8E69D0-4110-19D4-0B04-811874DB5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9" t="18277" r="6597" b="17741"/>
          <a:stretch/>
        </p:blipFill>
        <p:spPr>
          <a:xfrm>
            <a:off x="710821" y="2934458"/>
            <a:ext cx="7722359" cy="19379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6B672C-5CD6-CBCE-A9EB-400873AEAC18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 Independent 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0B545C-09C8-4E43-29A6-2DE3E39C6E30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Example Code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EA219EF7-AF24-2891-D83C-BFBE7EC1678B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5375B-8566-5125-96F8-B2B1B05D93CE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13BEC-B6BC-BBC1-F1F0-86EE8B8A99AF}"/>
              </a:ext>
            </a:extLst>
          </p:cNvPr>
          <p:cNvSpPr txBox="1"/>
          <p:nvPr/>
        </p:nvSpPr>
        <p:spPr>
          <a:xfrm>
            <a:off x="885190" y="2081199"/>
            <a:ext cx="7500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the means of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 independent populations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with equal variance.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1F1C6D3-48B4-8D51-5F19-0AA856CDEE6F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98E130A-8FF5-E695-7376-85419FFB1D3F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EBCA7219-6CF7-0D22-1F36-838DAC883F49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996318C-2785-637D-4B7B-56D1EEBA65E7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2356186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EF63-A364-9CBE-1691-9C4149BA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8B87E213-0E3B-89C3-87C5-E1F16A10EEB4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128E51DD-20AB-22E0-9D83-BFC85457D182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F19D547F-54BD-102A-2750-501F524C59CB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49BFC92-A678-B59E-2B7A-FB5DC664297B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7570B0F-BE1E-6CEA-7D8A-06FC00DAFD0B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839B2D03-E07C-C7A9-2D48-B9EA22C232B8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6BE2BFA8-2BF3-F061-5F97-10E4CBB5F112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B15FFF65-0881-6A23-7B06-342DE5B8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12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E29FA4-211E-68BF-FDCD-15D80EA842CF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DF4C6-A891-E0F4-7992-7AB716665941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Formula</a:t>
            </a:r>
            <a:endParaRPr lang="en-US" sz="1000" dirty="0">
              <a:solidFill>
                <a:srgbClr val="002060"/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B2DF9-C7BB-B452-0FA3-F445A1AF4162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Paired 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0CF892-711E-18B0-06A8-AE7C54CC44E6}"/>
                  </a:ext>
                </a:extLst>
              </p:cNvPr>
              <p:cNvSpPr txBox="1"/>
              <p:nvPr/>
            </p:nvSpPr>
            <p:spPr>
              <a:xfrm>
                <a:off x="-1586887" y="4354324"/>
                <a:ext cx="6428191" cy="1340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0CF892-711E-18B0-06A8-AE7C54CC4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6887" y="4354324"/>
                <a:ext cx="6428191" cy="1340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FC49A44-36C7-B92D-E81C-7300AD0EE78C}"/>
              </a:ext>
            </a:extLst>
          </p:cNvPr>
          <p:cNvSpPr txBox="1"/>
          <p:nvPr/>
        </p:nvSpPr>
        <p:spPr>
          <a:xfrm>
            <a:off x="938537" y="2140242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 dependent variables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with equal variance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90473-2BB2-9D3E-6C26-FE649334484F}"/>
              </a:ext>
            </a:extLst>
          </p:cNvPr>
          <p:cNvSpPr txBox="1"/>
          <p:nvPr/>
        </p:nvSpPr>
        <p:spPr>
          <a:xfrm>
            <a:off x="938537" y="2938755"/>
            <a:ext cx="7796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EXP: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Effect of blood pressure medication on patients before and after administration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07ED14-966C-A5F5-8CAC-F4DD0607B822}"/>
                  </a:ext>
                </a:extLst>
              </p:cNvPr>
              <p:cNvSpPr txBox="1"/>
              <p:nvPr/>
            </p:nvSpPr>
            <p:spPr>
              <a:xfrm>
                <a:off x="6116381" y="4917031"/>
                <a:ext cx="17655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07ED14-966C-A5F5-8CAC-F4DD0607B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381" y="4917031"/>
                <a:ext cx="17655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2AFA5DF-25E7-9847-246B-3CC9DE4107C9}"/>
              </a:ext>
            </a:extLst>
          </p:cNvPr>
          <p:cNvSpPr txBox="1"/>
          <p:nvPr/>
        </p:nvSpPr>
        <p:spPr>
          <a:xfrm>
            <a:off x="938537" y="2529323"/>
            <a:ext cx="7148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Used when a quantitative variable is measured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twice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 per observation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F2E7A-6B87-9520-D0CA-019BCD7D8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BD301D-0DA9-D701-7A95-89A63885AED7}"/>
                  </a:ext>
                </a:extLst>
              </p:cNvPr>
              <p:cNvSpPr txBox="1"/>
              <p:nvPr/>
            </p:nvSpPr>
            <p:spPr>
              <a:xfrm>
                <a:off x="587144" y="3397240"/>
                <a:ext cx="4572000" cy="557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𝑎𝑓𝑡𝑒𝑟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𝑏𝑒𝑓𝑜𝑟𝑒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BD301D-0DA9-D701-7A95-89A63885A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44" y="3397240"/>
                <a:ext cx="4572000" cy="5577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085459-C7E8-DFD5-4E73-03F8B2ACE17F}"/>
                  </a:ext>
                </a:extLst>
              </p:cNvPr>
              <p:cNvSpPr txBox="1"/>
              <p:nvPr/>
            </p:nvSpPr>
            <p:spPr>
              <a:xfrm>
                <a:off x="5191491" y="3338865"/>
                <a:ext cx="3266941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085459-C7E8-DFD5-4E73-03F8B2ACE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91" y="3338865"/>
                <a:ext cx="3266941" cy="11005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arallelogram 10">
            <a:extLst>
              <a:ext uri="{FF2B5EF4-FFF2-40B4-BE49-F238E27FC236}">
                <a16:creationId xmlns:a16="http://schemas.microsoft.com/office/drawing/2014/main" id="{08AA5B3E-5239-4E12-C29A-E48A9B59F513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5ECE0-F939-6F9B-E19B-CCB9CEC1DC64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43B0EDD-088C-B04C-26B9-CB82F820D596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DE4333E3-83E7-CBEA-1E55-9DD2B5012E67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50E77378-66C5-58DD-35A5-B21507FF6987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88A880B1-014B-F699-9774-176F92B99D47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938132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B788-595C-C884-836A-00AD7343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DA360206-0C08-ADE8-2CBF-E69F86976BDC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234C8CFE-FE4D-FE07-6382-FD6F4E3338B6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0151926E-5F3E-A3BF-22DE-CEA268EECEE9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80FCB66-AD50-926F-1626-93B4D66353A5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6690A31-4A07-4ABF-907B-814F23C3E617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63095721-22BE-F0B3-9488-25B425DD6A8F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08CABEB1-98C8-20B6-8DD1-187A1532487E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246103A1-57D6-2D27-AF57-8E2AA071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13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77FAC7-B8BE-FD95-A422-3C7FB8774374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216F2-088D-BAA3-9CC0-038A9E79C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46EF57-D204-F713-9362-1683C4FD2AF2}"/>
              </a:ext>
            </a:extLst>
          </p:cNvPr>
          <p:cNvSpPr txBox="1"/>
          <p:nvPr/>
        </p:nvSpPr>
        <p:spPr>
          <a:xfrm>
            <a:off x="587144" y="1494790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Paired Sample t-Test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2636D-A58F-B792-F93F-2ADE954F3E89}"/>
              </a:ext>
            </a:extLst>
          </p:cNvPr>
          <p:cNvSpPr txBox="1"/>
          <p:nvPr/>
        </p:nvSpPr>
        <p:spPr>
          <a:xfrm>
            <a:off x="938537" y="2140242"/>
            <a:ext cx="5933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Comparison of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 dependent variables 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with equal 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B310B-EE3C-AD89-8508-BE8AEE7CD22A}"/>
              </a:ext>
            </a:extLst>
          </p:cNvPr>
          <p:cNvSpPr txBox="1"/>
          <p:nvPr/>
        </p:nvSpPr>
        <p:spPr>
          <a:xfrm>
            <a:off x="938537" y="2529323"/>
            <a:ext cx="7148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Used when a quantitative variable is measured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twice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 per observation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5BC96A-CA65-E091-D6DC-ACDA33A5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8240" r="9393" b="18009"/>
          <a:stretch/>
        </p:blipFill>
        <p:spPr>
          <a:xfrm>
            <a:off x="1194301" y="3189985"/>
            <a:ext cx="6755399" cy="28083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4CFA92-C0AA-CE60-3522-A7185F4B5708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Example Code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D3157F71-FDE7-9ADE-4E77-E1E9EF67C278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CBFCA-8E47-17C8-9283-0FD9A4FF325A}"/>
              </a:ext>
            </a:extLst>
          </p:cNvPr>
          <p:cNvSpPr txBox="1"/>
          <p:nvPr/>
        </p:nvSpPr>
        <p:spPr>
          <a:xfrm>
            <a:off x="1885013" y="338361"/>
            <a:ext cx="5373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en-US" sz="11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80416FD-6912-BE08-DE2A-150EEA27809A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6DB6F4B-02D9-6122-5C4E-DC071BA7CE54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Kolmogorov-Smirnov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53012E9E-0AB2-F85C-2E6A-31A72B05F390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83A2402-318B-AF6E-2037-8AE278D004A1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31291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E3E0-7728-4B6B-7311-9459464D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ECEA8F76-1892-4980-5447-B5EC1301A5FF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5B5559C2-4D3E-77BD-7996-31FFD3666073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031E32C2-B89D-EFD0-7AA6-55C9E80A90EC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98A8B1D-A51A-088B-63F4-92DCF4BFC457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29BFCA6-5144-A880-58DC-4D3B985EA7D3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D020DA3E-5564-8E89-DBC2-5F23CAD2441D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5B9FE853-FF70-2437-5541-8F485F6F8439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D1EAFCB1-8F94-627A-B3E8-6F14E1DB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14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AA3548-0447-D51C-8EE2-F5AA44C8FB32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4BD30-1505-8AF3-1949-F35AF32D6D1A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Introduction</a:t>
            </a:r>
            <a:endParaRPr lang="en-US" sz="1000" dirty="0">
              <a:solidFill>
                <a:schemeClr val="accent1">
                  <a:lumMod val="7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A447D-993F-2988-E2B2-23860E1DD89F}"/>
              </a:ext>
            </a:extLst>
          </p:cNvPr>
          <p:cNvSpPr txBox="1"/>
          <p:nvPr/>
        </p:nvSpPr>
        <p:spPr>
          <a:xfrm>
            <a:off x="587144" y="1981654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Non-Parametric 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533AFE-0DD3-ACF7-4205-3E122280B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447" y="2726314"/>
            <a:ext cx="4219902" cy="33720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6DE2A5-D472-2F60-64B4-82EAC80B64AF}"/>
              </a:ext>
            </a:extLst>
          </p:cNvPr>
          <p:cNvSpPr txBox="1"/>
          <p:nvPr/>
        </p:nvSpPr>
        <p:spPr>
          <a:xfrm>
            <a:off x="578463" y="1469449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 21th-century Russian mathematicians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BAD4E9-510C-787D-CC74-7B0F42030F62}"/>
              </a:ext>
            </a:extLst>
          </p:cNvPr>
          <p:cNvSpPr txBox="1"/>
          <p:nvPr/>
        </p:nvSpPr>
        <p:spPr>
          <a:xfrm>
            <a:off x="1885013" y="338361"/>
            <a:ext cx="537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0"/>
                <a:cs typeface="IRNazanin" panose="02000506000000020002" pitchFamily="2" charset="-78"/>
              </a:rPr>
              <a:t>Kolmogorov-Smirnov Test</a:t>
            </a:r>
            <a:endParaRPr lang="en-US" sz="28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3D32F-F8EE-F106-20A9-9C2307E07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5D0078D1-2723-81CB-775D-682DE0C3CA5F}"/>
              </a:ext>
            </a:extLst>
          </p:cNvPr>
          <p:cNvSpPr/>
          <p:nvPr/>
        </p:nvSpPr>
        <p:spPr>
          <a:xfrm rot="10800000" flipV="1">
            <a:off x="745248" y="6376616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70F0FEE-4ADF-77BE-17C0-E759F14650CB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88F1CB1-DBDA-4314-67F8-DCF63B137A5D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68822D1-D33C-B789-241B-31FC44A09CBB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949D912-0D97-3EA1-B1E5-B6CCC168B53B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1812843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520D-3EC8-E232-7B65-A654BF67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6266DE8C-0E08-9706-898E-9668344A82B6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0993BFBA-18B7-51DA-BCA0-A6436E86EED4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BFC292C6-7EBD-0DCB-6115-4C14DED26A75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E0692C4-B5AE-13F7-A672-8D29CD56CDFB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D17ABB1-93CB-12CB-5B45-E8A0AED0689F}"/>
              </a:ext>
            </a:extLst>
          </p:cNvPr>
          <p:cNvCxnSpPr>
            <a:cxnSpLocks/>
            <a:stCxn id="61" idx="5"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BAB2593A-ADD7-8EB2-09A9-9BE433064D23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2F5B8DD3-1D70-AE93-DCC7-F65F75F5BE8F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17773F9D-CB4D-03F1-D093-31B03BB85EEA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CF6B0FCF-92C5-BBAB-8219-86F4D9CE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15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A38BC7-785F-CA95-B515-E00EAF0E3109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E1E10-DF9D-482C-E7B3-F1860DA197AD}"/>
              </a:ext>
            </a:extLst>
          </p:cNvPr>
          <p:cNvSpPr txBox="1"/>
          <p:nvPr/>
        </p:nvSpPr>
        <p:spPr>
          <a:xfrm>
            <a:off x="603414" y="2788341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Two-sample K-S test 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3A528C-9AB7-CF3C-5E5E-5DD7006F4EF0}"/>
              </a:ext>
            </a:extLst>
          </p:cNvPr>
          <p:cNvSpPr txBox="1"/>
          <p:nvPr/>
        </p:nvSpPr>
        <p:spPr>
          <a:xfrm>
            <a:off x="587144" y="157514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One-sample K-S 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8953B-0D58-F777-2136-401F32A0B94B}"/>
              </a:ext>
            </a:extLst>
          </p:cNvPr>
          <p:cNvSpPr txBox="1"/>
          <p:nvPr/>
        </p:nvSpPr>
        <p:spPr>
          <a:xfrm>
            <a:off x="938537" y="2166459"/>
            <a:ext cx="65810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Examines whether a sample follows a specific distribution or not.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974B0-3508-3773-EBD4-33AAEB35BD93}"/>
              </a:ext>
            </a:extLst>
          </p:cNvPr>
          <p:cNvSpPr txBox="1"/>
          <p:nvPr/>
        </p:nvSpPr>
        <p:spPr>
          <a:xfrm>
            <a:off x="968887" y="3408513"/>
            <a:ext cx="7376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Examines whether two independent samples come from the same distribution or not.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E4DCF-03AB-AFAE-DE2F-6DD47D42D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E9287B-631B-4DF0-4913-96B093374ECE}"/>
              </a:ext>
            </a:extLst>
          </p:cNvPr>
          <p:cNvSpPr txBox="1"/>
          <p:nvPr/>
        </p:nvSpPr>
        <p:spPr>
          <a:xfrm>
            <a:off x="1885013" y="338361"/>
            <a:ext cx="537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0"/>
                <a:cs typeface="IRNazanin" panose="02000506000000020002" pitchFamily="2" charset="-78"/>
              </a:rPr>
              <a:t>Kolmogorov-Smirnov Test</a:t>
            </a:r>
            <a:endParaRPr lang="en-US" sz="28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8FE12A-47A1-43FE-92A9-6451ACF627C1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states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B248DA-5FC3-1ADF-14D1-4B89C42A1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85" y="4056034"/>
            <a:ext cx="2555853" cy="2042348"/>
          </a:xfrm>
          <a:prstGeom prst="rect">
            <a:avLst/>
          </a:prstGeom>
        </p:spPr>
      </p:pic>
      <p:sp>
        <p:nvSpPr>
          <p:cNvPr id="3" name="Parallelogram 2">
            <a:extLst>
              <a:ext uri="{FF2B5EF4-FFF2-40B4-BE49-F238E27FC236}">
                <a16:creationId xmlns:a16="http://schemas.microsoft.com/office/drawing/2014/main" id="{EB4543AC-6590-6E76-055E-D7231B7C7753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0BE67F81-0B9A-9080-8F26-B5880556575C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A116A2A-8AAF-5439-71FB-B49E34EE5C55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953B832-87DC-5935-5159-51B357A6BD00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4252201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5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18BA-2A2D-6388-8AFF-C43ECED3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3DC41419-6897-61D3-601A-BEB60230E8A4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5E5E7002-705F-E941-24E0-821F02636948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04C1ADF5-74E1-D85A-9F1C-1C252569E488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996915-C327-94E6-0A2C-D750806896D9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56E617E-99B4-C9D4-4119-1FCDA1DE229C}"/>
              </a:ext>
            </a:extLst>
          </p:cNvPr>
          <p:cNvCxnSpPr>
            <a:cxnSpLocks/>
            <a:stCxn id="61" idx="5"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8CC931D8-1E07-BF6C-7EAF-5EA58B92E627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32A6CD93-EE82-AED2-7746-8D17CC0A91DA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04D46101-65DA-6934-0828-B3F77739C393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AB136301-C86B-5900-C02E-301F83D4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16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E6973C-4A78-3E03-B924-0F8EC1A25A62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4D055-CBB2-C763-09DB-4043628A3CAB}"/>
              </a:ext>
            </a:extLst>
          </p:cNvPr>
          <p:cNvSpPr txBox="1"/>
          <p:nvPr/>
        </p:nvSpPr>
        <p:spPr>
          <a:xfrm>
            <a:off x="587144" y="157514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One-sample K-S 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BA196-E296-1240-AAEA-AE9E1AD2788F}"/>
              </a:ext>
            </a:extLst>
          </p:cNvPr>
          <p:cNvSpPr txBox="1"/>
          <p:nvPr/>
        </p:nvSpPr>
        <p:spPr>
          <a:xfrm>
            <a:off x="938537" y="2166459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Examines whether a sample follows a specific distribution or 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EB2242-4FBF-C6DC-DA0E-859F92D40809}"/>
                  </a:ext>
                </a:extLst>
              </p:cNvPr>
              <p:cNvSpPr txBox="1"/>
              <p:nvPr/>
            </p:nvSpPr>
            <p:spPr>
              <a:xfrm>
                <a:off x="2752285" y="3303644"/>
                <a:ext cx="3416140" cy="924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a-I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EB2242-4FBF-C6DC-DA0E-859F92D40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285" y="3303644"/>
                <a:ext cx="3416140" cy="924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3784C7D-FAB2-8769-E5D9-8C83C7DF1765}"/>
              </a:ext>
            </a:extLst>
          </p:cNvPr>
          <p:cNvSpPr txBox="1"/>
          <p:nvPr/>
        </p:nvSpPr>
        <p:spPr>
          <a:xfrm>
            <a:off x="938537" y="2751361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step one (ECDF):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Calculate Empirical  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Cumulative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Distribution Function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3ACBB8-1EE8-7020-B618-A1249AAF3E81}"/>
              </a:ext>
            </a:extLst>
          </p:cNvPr>
          <p:cNvSpPr txBox="1"/>
          <p:nvPr/>
        </p:nvSpPr>
        <p:spPr>
          <a:xfrm>
            <a:off x="938537" y="4384550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step two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:  calculate Theoretical 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Cumulative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Distribution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6E714-D76A-8264-1DAF-F4556CC3D3D9}"/>
              </a:ext>
            </a:extLst>
          </p:cNvPr>
          <p:cNvSpPr txBox="1"/>
          <p:nvPr/>
        </p:nvSpPr>
        <p:spPr>
          <a:xfrm>
            <a:off x="938537" y="4892337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step three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:  test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7AD4C4-E46F-BCA0-9DEF-FF74E51CC41D}"/>
                  </a:ext>
                </a:extLst>
              </p:cNvPr>
              <p:cNvSpPr txBox="1"/>
              <p:nvPr/>
            </p:nvSpPr>
            <p:spPr>
              <a:xfrm>
                <a:off x="2885031" y="5472421"/>
                <a:ext cx="33739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𝑠𝑢𝑝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7AD4C4-E46F-BCA0-9DEF-FF74E51CC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031" y="5472421"/>
                <a:ext cx="3373937" cy="369332"/>
              </a:xfrm>
              <a:prstGeom prst="rect">
                <a:avLst/>
              </a:prstGeom>
              <a:blipFill>
                <a:blip r:embed="rId4"/>
                <a:stretch>
                  <a:fillRect l="-1625" r="-2888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F4B314D-3A24-BB8F-59C6-C788F23A43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403E0B4-01DA-E30B-B7E9-056E89CF9EA2}"/>
              </a:ext>
            </a:extLst>
          </p:cNvPr>
          <p:cNvSpPr txBox="1"/>
          <p:nvPr/>
        </p:nvSpPr>
        <p:spPr>
          <a:xfrm>
            <a:off x="1885013" y="338361"/>
            <a:ext cx="537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0"/>
                <a:cs typeface="IRNazanin" panose="02000506000000020002" pitchFamily="2" charset="-78"/>
              </a:rPr>
              <a:t>Kolmogorov-Smirnov Test</a:t>
            </a:r>
            <a:endParaRPr lang="en-US" sz="28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8D568-A59C-2239-8ED4-19005FF9F469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states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699A774D-DC93-2163-CDF6-6DBA10918ACC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C8E5B16D-244A-71CF-E0E1-988EEFED7EB7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6F4450C5-8345-90A8-1E42-F9E6BE5ABEE0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6B96F98-70B5-5FFA-99F4-07E9F37784CB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1934495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" grpId="0"/>
      <p:bldP spid="4" grpId="0"/>
      <p:bldP spid="6" grpId="0"/>
      <p:bldP spid="10" grpId="0"/>
      <p:bldP spid="11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06EF-EAD0-E407-DDC4-B41D1F99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C44A84E0-9D3C-E6A4-E144-42B52419D7BB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C8B2462F-4466-284C-27FD-4CD598B92A2E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740A1D51-41E3-438B-8836-EF65A2CC0BE6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E3B51A-0655-CBCD-BB1C-219F2FF16097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30D25A-4AF5-B779-8DA3-1071D62A3F7D}"/>
              </a:ext>
            </a:extLst>
          </p:cNvPr>
          <p:cNvCxnSpPr>
            <a:cxnSpLocks/>
            <a:stCxn id="61" idx="5"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59AC3D7F-6AC2-0017-A8EA-5D4984C808D4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4F42276B-E1E4-16EF-C10B-F222B53CAD1F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C2F50FAB-6B0C-E5CB-8051-47CF5FB8B426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006CCA91-35AA-9F33-DEAF-79A309AC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17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10FAD7-A8FC-E973-AC43-24B1D50F64B2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E7E248-814E-4356-FF54-DD8B6CDC2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6BF7F6-A6DB-2E32-39DF-94BCF44D88A5}"/>
              </a:ext>
            </a:extLst>
          </p:cNvPr>
          <p:cNvSpPr txBox="1"/>
          <p:nvPr/>
        </p:nvSpPr>
        <p:spPr>
          <a:xfrm>
            <a:off x="587144" y="157514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One-sample K-S test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DC8E2-F7EB-FF77-3597-4468CFB72AB8}"/>
              </a:ext>
            </a:extLst>
          </p:cNvPr>
          <p:cNvSpPr txBox="1"/>
          <p:nvPr/>
        </p:nvSpPr>
        <p:spPr>
          <a:xfrm>
            <a:off x="938537" y="2166459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Examines whether a sample follows a specific distribution or not.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F68AC4-6A85-2040-5DED-70E105E81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0" t="2466" r="-409" b="729"/>
          <a:stretch/>
        </p:blipFill>
        <p:spPr>
          <a:xfrm>
            <a:off x="1596027" y="2547310"/>
            <a:ext cx="5951947" cy="3749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D8A8B6-BD8E-C9CB-DB21-F49CD660EA1D}"/>
              </a:ext>
            </a:extLst>
          </p:cNvPr>
          <p:cNvSpPr txBox="1"/>
          <p:nvPr/>
        </p:nvSpPr>
        <p:spPr>
          <a:xfrm>
            <a:off x="1885013" y="338361"/>
            <a:ext cx="537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0"/>
                <a:cs typeface="IRNazanin" panose="02000506000000020002" pitchFamily="2" charset="-78"/>
              </a:rPr>
              <a:t>Kolmogorov-Smirnov Test</a:t>
            </a:r>
            <a:endParaRPr lang="en-US" sz="28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704B3-BA48-F3D9-C34E-E838F1819DF4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Example Code</a:t>
            </a: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5FE11262-CF33-AF20-3454-55B4C1DDFC9B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A5DD538-134B-C186-EE26-73AB873FFE85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C645292-39FA-3DB5-8696-5E320364A51C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3A6E582-F07B-3853-AF47-EBE2AE279FE4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293426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37FF-D3D8-D541-5B75-243A5CBC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4E98B468-3F89-10EF-86D7-03E5589D97A2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CB813CBA-C0AA-C7D3-FC76-11C8A4D01719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A2568C93-8499-5FE1-E387-9F20B20F6584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498725-15EA-4D1D-1BB7-38FAB61B3EF7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9E169E5-C637-E4F1-80C4-DBD4BD15A069}"/>
              </a:ext>
            </a:extLst>
          </p:cNvPr>
          <p:cNvCxnSpPr>
            <a:cxnSpLocks/>
            <a:stCxn id="61" idx="5"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21C42C9A-84F4-0BBA-5D4E-EF587EBD6169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014F84A3-3342-F820-3A1A-20B241239A89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7197E7A3-F6F8-73EB-1768-B27FCE3B93D6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47CB8780-A492-4470-6942-986B94A6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18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3269B5-2FAB-D47C-CBF5-9840FEC3C25A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9369C-15FD-002E-8BD5-225A21EF5B41}"/>
              </a:ext>
            </a:extLst>
          </p:cNvPr>
          <p:cNvSpPr txBox="1"/>
          <p:nvPr/>
        </p:nvSpPr>
        <p:spPr>
          <a:xfrm>
            <a:off x="587144" y="157514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Two-sample K-S test 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AF7E83-ACAB-6923-E1FB-0B5ED11FAEA0}"/>
                  </a:ext>
                </a:extLst>
              </p:cNvPr>
              <p:cNvSpPr txBox="1"/>
              <p:nvPr/>
            </p:nvSpPr>
            <p:spPr>
              <a:xfrm>
                <a:off x="1164452" y="3636307"/>
                <a:ext cx="3416140" cy="924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fa-I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AF7E83-ACAB-6923-E1FB-0B5ED11FA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52" y="3636307"/>
                <a:ext cx="3416140" cy="924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669BA11-18D2-229F-95EA-7CC22062C02E}"/>
              </a:ext>
            </a:extLst>
          </p:cNvPr>
          <p:cNvSpPr txBox="1"/>
          <p:nvPr/>
        </p:nvSpPr>
        <p:spPr>
          <a:xfrm>
            <a:off x="938536" y="3056963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step one (ECDF):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Calculate Empirical  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Cumulative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Distribution Function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E568F-CE18-9F58-2E89-776CD20D83D5}"/>
              </a:ext>
            </a:extLst>
          </p:cNvPr>
          <p:cNvSpPr txBox="1"/>
          <p:nvPr/>
        </p:nvSpPr>
        <p:spPr>
          <a:xfrm>
            <a:off x="938537" y="4750824"/>
            <a:ext cx="7043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IRNazanin" panose="02000506000000020002" pitchFamily="2" charset="-78"/>
                <a:cs typeface="IRNazanin" panose="02000506000000020002" pitchFamily="2" charset="-78"/>
              </a:rPr>
              <a:t>step two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:  test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942620-6966-2D70-1106-4365124DC425}"/>
                  </a:ext>
                </a:extLst>
              </p:cNvPr>
              <p:cNvSpPr txBox="1"/>
              <p:nvPr/>
            </p:nvSpPr>
            <p:spPr>
              <a:xfrm>
                <a:off x="2764013" y="5345699"/>
                <a:ext cx="3894656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𝑠𝑢𝑝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942620-6966-2D70-1106-4365124DC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013" y="5345699"/>
                <a:ext cx="3894656" cy="385555"/>
              </a:xfrm>
              <a:prstGeom prst="rect">
                <a:avLst/>
              </a:prstGeom>
              <a:blipFill>
                <a:blip r:embed="rId3"/>
                <a:stretch>
                  <a:fillRect l="-125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9F0B5E-9989-3FAC-264A-C8D7B3058F5D}"/>
                  </a:ext>
                </a:extLst>
              </p:cNvPr>
              <p:cNvSpPr txBox="1"/>
              <p:nvPr/>
            </p:nvSpPr>
            <p:spPr>
              <a:xfrm>
                <a:off x="4686271" y="3636307"/>
                <a:ext cx="3416140" cy="924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a-I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9F0B5E-9989-3FAC-264A-C8D7B3058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271" y="3636307"/>
                <a:ext cx="3416140" cy="9241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35BEE48-5078-84C8-15CF-DE020A736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A174C6-53DF-0B87-A038-4A05543E5714}"/>
              </a:ext>
            </a:extLst>
          </p:cNvPr>
          <p:cNvSpPr txBox="1"/>
          <p:nvPr/>
        </p:nvSpPr>
        <p:spPr>
          <a:xfrm>
            <a:off x="1885013" y="338361"/>
            <a:ext cx="537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0"/>
                <a:cs typeface="IRNazanin" panose="02000506000000020002" pitchFamily="2" charset="-78"/>
              </a:rPr>
              <a:t>Kolmogorov-Smirnov Test</a:t>
            </a:r>
            <a:endParaRPr lang="en-US" sz="28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78A879-FA97-3857-63D9-CF5BB6266662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states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AE54D-E112-6ED2-24B3-7A4EFAD714E5}"/>
              </a:ext>
            </a:extLst>
          </p:cNvPr>
          <p:cNvSpPr txBox="1"/>
          <p:nvPr/>
        </p:nvSpPr>
        <p:spPr>
          <a:xfrm>
            <a:off x="968888" y="2193713"/>
            <a:ext cx="7376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Examines whether two independent samples come from the same distribution or not</a:t>
            </a: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605C6987-0D91-2012-8079-C3A874DDE42A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71FEE61-989D-96E8-3C01-EB9604D5133B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5FFE5579-299A-7C7A-B3F4-B6171F524569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4D14698-9AA6-6595-1D02-571DBE81F41D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715746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6" grpId="0"/>
      <p:bldP spid="11" grpId="0"/>
      <p:bldP spid="14" grpId="0"/>
      <p:bldP spid="7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199B-542F-8F78-1122-20E30C77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7B3DD772-EEAD-2075-2AC5-0C30FEB8FDE3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043B1786-97CB-6CEA-62E9-51A161D9F845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2297B2F4-1572-44C5-E354-7F41FF6E6AD0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08D56E-3883-776D-193C-079749892610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DA15D77-27BE-3F3C-52A9-6A90A783E8F6}"/>
              </a:ext>
            </a:extLst>
          </p:cNvPr>
          <p:cNvCxnSpPr>
            <a:cxnSpLocks/>
            <a:stCxn id="61" idx="5"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D574A70F-AE3B-77C3-ABE4-07AA0B6C58BF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8162CC66-B5A9-6BBA-9DC9-A0E1C1D369EB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F9A4DE7B-449D-BA7B-1C10-5DE1BB89B48C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E5F02DB6-A9BD-995F-6212-A9F25892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19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25120DF-9997-8B19-4862-EA2A74C7F281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5F70F-6B5B-381C-C657-E78D2B1AA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0DB560-4999-294B-9DD1-B8397D02154C}"/>
              </a:ext>
            </a:extLst>
          </p:cNvPr>
          <p:cNvSpPr txBox="1"/>
          <p:nvPr/>
        </p:nvSpPr>
        <p:spPr>
          <a:xfrm>
            <a:off x="1885013" y="833816"/>
            <a:ext cx="537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Example 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E230B-2FC7-2BD6-57FA-E389714D8C45}"/>
              </a:ext>
            </a:extLst>
          </p:cNvPr>
          <p:cNvSpPr txBox="1"/>
          <p:nvPr/>
        </p:nvSpPr>
        <p:spPr>
          <a:xfrm>
            <a:off x="587144" y="1575147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Two-sample K-S test </a:t>
            </a:r>
            <a:endParaRPr lang="id-ID"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DC3C6F-1B27-493F-A51C-C550F7B1E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1" t="10779" r="6542" b="11220"/>
          <a:stretch/>
        </p:blipFill>
        <p:spPr>
          <a:xfrm>
            <a:off x="1501597" y="2845327"/>
            <a:ext cx="6140807" cy="34484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C01437-F3E8-FCC9-0D60-BB5648EF1B01}"/>
              </a:ext>
            </a:extLst>
          </p:cNvPr>
          <p:cNvSpPr txBox="1"/>
          <p:nvPr/>
        </p:nvSpPr>
        <p:spPr>
          <a:xfrm>
            <a:off x="1885013" y="338361"/>
            <a:ext cx="537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ontserrat" panose="00000500000000000000" pitchFamily="2" charset="0"/>
                <a:cs typeface="IRNazanin" panose="02000506000000020002" pitchFamily="2" charset="-78"/>
              </a:rPr>
              <a:t>Kolmogorov-Smirnov Test</a:t>
            </a:r>
            <a:endParaRPr lang="en-US" sz="28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F61018-E09C-0B1F-95A5-EDF549DCFB1B}"/>
              </a:ext>
            </a:extLst>
          </p:cNvPr>
          <p:cNvSpPr txBox="1"/>
          <p:nvPr/>
        </p:nvSpPr>
        <p:spPr>
          <a:xfrm>
            <a:off x="968888" y="2193713"/>
            <a:ext cx="7376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Examines whether two independent samples come from the same distribution or not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875FF756-431F-5F13-AE2C-60D42D8844C3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ABE49F7-3BD7-CDC1-E8FB-0F692BCADDFC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1350B8F-E609-4B41-8434-CC6CBA702882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4472C4"/>
                </a:solidFill>
              </a:rPr>
              <a:t>Conclusion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029D5F1-4D3F-F7DD-F11C-5DC9B1332716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4246184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8141-0D81-BBDC-B13F-DC9E633C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alf Frame 41">
            <a:extLst>
              <a:ext uri="{FF2B5EF4-FFF2-40B4-BE49-F238E27FC236}">
                <a16:creationId xmlns:a16="http://schemas.microsoft.com/office/drawing/2014/main" id="{A3D35158-C859-FC59-FDE9-3B742987A2F5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3" name="Half Frame 42">
            <a:extLst>
              <a:ext uri="{FF2B5EF4-FFF2-40B4-BE49-F238E27FC236}">
                <a16:creationId xmlns:a16="http://schemas.microsoft.com/office/drawing/2014/main" id="{38FC9589-0E7D-A14C-2DEB-A77D9A6831AA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5" name="Half Frame 44">
            <a:extLst>
              <a:ext uri="{FF2B5EF4-FFF2-40B4-BE49-F238E27FC236}">
                <a16:creationId xmlns:a16="http://schemas.microsoft.com/office/drawing/2014/main" id="{FEBAF15B-2649-5F32-10C9-4661694BD46E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66A341-727E-7483-B41D-2BF79B8C3031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808619" y="4112896"/>
            <a:ext cx="5515" cy="192065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7DBE664-0764-1266-D8DE-A1784CB4914D}"/>
              </a:ext>
            </a:extLst>
          </p:cNvPr>
          <p:cNvCxnSpPr>
            <a:cxnSpLocks/>
            <a:stCxn id="61" idx="5"/>
            <a:endCxn id="58" idx="0"/>
          </p:cNvCxnSpPr>
          <p:nvPr/>
        </p:nvCxnSpPr>
        <p:spPr>
          <a:xfrm>
            <a:off x="5652737" y="6501240"/>
            <a:ext cx="2692870" cy="8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Half Frame 57">
            <a:extLst>
              <a:ext uri="{FF2B5EF4-FFF2-40B4-BE49-F238E27FC236}">
                <a16:creationId xmlns:a16="http://schemas.microsoft.com/office/drawing/2014/main" id="{AB9E42E0-4175-AC3E-299C-A97219EC2608}"/>
              </a:ext>
            </a:extLst>
          </p:cNvPr>
          <p:cNvSpPr/>
          <p:nvPr/>
        </p:nvSpPr>
        <p:spPr>
          <a:xfrm rot="10800000">
            <a:off x="8228477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97F8AEA6-7D96-46B3-1BCD-38BE3B8E11D0}"/>
              </a:ext>
            </a:extLst>
          </p:cNvPr>
          <p:cNvSpPr/>
          <p:nvPr/>
        </p:nvSpPr>
        <p:spPr>
          <a:xfrm rot="10800000" flipV="1">
            <a:off x="745248" y="6387374"/>
            <a:ext cx="5019281" cy="227731"/>
          </a:xfrm>
          <a:prstGeom prst="parallelogram">
            <a:avLst>
              <a:gd name="adj" fmla="val 9817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 Iran University of Science and Technology| 2025/21/04</a:t>
            </a: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B44A80BF-093C-6A87-19C3-D219FF8D66C6}"/>
              </a:ext>
            </a:extLst>
          </p:cNvPr>
          <p:cNvSpPr/>
          <p:nvPr/>
        </p:nvSpPr>
        <p:spPr>
          <a:xfrm rot="16200000">
            <a:off x="-1958055" y="3678361"/>
            <a:ext cx="4613827" cy="226215"/>
          </a:xfrm>
          <a:prstGeom prst="parallelogram">
            <a:avLst>
              <a:gd name="adj" fmla="val 98179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Machine Learning: Parametric and Non-Parametric Testing </a:t>
            </a:r>
          </a:p>
        </p:txBody>
      </p:sp>
      <p:sp>
        <p:nvSpPr>
          <p:cNvPr id="82" name="Slide Number Placeholder 3">
            <a:extLst>
              <a:ext uri="{FF2B5EF4-FFF2-40B4-BE49-F238E27FC236}">
                <a16:creationId xmlns:a16="http://schemas.microsoft.com/office/drawing/2014/main" id="{D4267909-200A-2F1A-B971-8EEE891E8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8669" y="6300594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rgbClr val="4472C4"/>
                </a:solidFill>
              </a:rPr>
              <a:t>20</a:t>
            </a:fld>
            <a:endParaRPr lang="en-US" dirty="0">
              <a:solidFill>
                <a:srgbClr val="4472C4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0F5FF69-986C-A7D8-493D-A4C6747B8066}"/>
              </a:ext>
            </a:extLst>
          </p:cNvPr>
          <p:cNvSpPr txBox="1"/>
          <p:nvPr/>
        </p:nvSpPr>
        <p:spPr>
          <a:xfrm>
            <a:off x="8577776" y="633989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472C4"/>
                </a:solidFill>
              </a:rPr>
              <a:t>/21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F788F9-132C-BF4C-6D36-0D2BD5D56162}"/>
              </a:ext>
            </a:extLst>
          </p:cNvPr>
          <p:cNvSpPr txBox="1"/>
          <p:nvPr/>
        </p:nvSpPr>
        <p:spPr>
          <a:xfrm>
            <a:off x="1885013" y="338361"/>
            <a:ext cx="53739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Montserrat" panose="00000500000000000000" pitchFamily="2" charset="0"/>
                <a:cs typeface="IRNazanin" panose="02000506000000020002" pitchFamily="2" charset="-78"/>
              </a:rPr>
              <a:t>Conclusion</a:t>
            </a:r>
            <a:endParaRPr lang="en-US" sz="3000" b="1" dirty="0">
              <a:solidFill>
                <a:schemeClr val="accent1"/>
              </a:solidFill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01098-1BEA-B033-2F95-19223AF8C3A8}"/>
              </a:ext>
            </a:extLst>
          </p:cNvPr>
          <p:cNvSpPr txBox="1"/>
          <p:nvPr/>
        </p:nvSpPr>
        <p:spPr>
          <a:xfrm>
            <a:off x="710252" y="1519801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t-Test</a:t>
            </a:r>
            <a:endParaRPr lang="id-ID" sz="2400" b="1" dirty="0"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BC99A-92A1-AC1A-A176-D2FF8BABA5B1}"/>
              </a:ext>
            </a:extLst>
          </p:cNvPr>
          <p:cNvSpPr txBox="1"/>
          <p:nvPr/>
        </p:nvSpPr>
        <p:spPr>
          <a:xfrm>
            <a:off x="764217" y="3794208"/>
            <a:ext cx="7500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Montserrat" panose="00000500000000000000" pitchFamily="2" charset="0"/>
                <a:cs typeface="IRNazanin" panose="02000506000000020002" pitchFamily="2" charset="-78"/>
              </a:rPr>
              <a:t>Statistical Kolmogorov-Smirnov Test</a:t>
            </a:r>
            <a:endParaRPr lang="id-ID" sz="2400" b="1" dirty="0">
              <a:latin typeface="Montserrat" panose="00000500000000000000" pitchFamily="2" charset="0"/>
              <a:cs typeface="IRNazanin" panose="02000506000000020002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C473F-2EFE-FF28-50C1-5AA485A790C1}"/>
              </a:ext>
            </a:extLst>
          </p:cNvPr>
          <p:cNvSpPr txBox="1"/>
          <p:nvPr/>
        </p:nvSpPr>
        <p:spPr>
          <a:xfrm>
            <a:off x="1052987" y="4432746"/>
            <a:ext cx="704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Non-parametric and applicable to any type of distribution</a:t>
            </a:r>
            <a:endParaRPr lang="en-US" sz="22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E56154-BDEB-058A-DF4B-B167A7303B8F}"/>
              </a:ext>
            </a:extLst>
          </p:cNvPr>
          <p:cNvSpPr txBox="1"/>
          <p:nvPr/>
        </p:nvSpPr>
        <p:spPr>
          <a:xfrm>
            <a:off x="1042108" y="4914619"/>
            <a:ext cx="6895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If the data is </a:t>
            </a:r>
            <a:r>
              <a:rPr lang="en-US" sz="2400" u="sng" dirty="0">
                <a:latin typeface="IRNazanin" panose="02000506000000020002" pitchFamily="2" charset="-78"/>
                <a:cs typeface="IRNazanin" panose="02000506000000020002" pitchFamily="2" charset="-78"/>
              </a:rPr>
              <a:t>discrete</a:t>
            </a: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, the KS test may not perform accurately.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F93C2D-3A8D-B80E-C4B3-46820D37F999}"/>
              </a:ext>
            </a:extLst>
          </p:cNvPr>
          <p:cNvSpPr txBox="1"/>
          <p:nvPr/>
        </p:nvSpPr>
        <p:spPr>
          <a:xfrm>
            <a:off x="1063868" y="2158339"/>
            <a:ext cx="704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Sensitive to Outliers</a:t>
            </a:r>
            <a:endParaRPr lang="en-US" sz="22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EEDCC-D3B8-1B07-055D-F00D6BC1150E}"/>
              </a:ext>
            </a:extLst>
          </p:cNvPr>
          <p:cNvSpPr txBox="1"/>
          <p:nvPr/>
        </p:nvSpPr>
        <p:spPr>
          <a:xfrm>
            <a:off x="1063868" y="2557738"/>
            <a:ext cx="7272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The data must follow a normal distribution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48C2E-664C-5D2C-3BAE-9F329C00DD34}"/>
              </a:ext>
            </a:extLst>
          </p:cNvPr>
          <p:cNvSpPr txBox="1"/>
          <p:nvPr/>
        </p:nvSpPr>
        <p:spPr>
          <a:xfrm>
            <a:off x="1063868" y="2987301"/>
            <a:ext cx="672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The t-Test is only applicable for comparing </a:t>
            </a:r>
            <a:r>
              <a:rPr lang="en-US" sz="2400" u="sng" dirty="0">
                <a:latin typeface="IRNazanin" panose="02000506000000020002" pitchFamily="2" charset="-78"/>
                <a:cs typeface="IRNazanin" panose="02000506000000020002" pitchFamily="2" charset="-78"/>
              </a:rPr>
              <a:t>two</a:t>
            </a:r>
            <a:r>
              <a:rPr lang="en-US" sz="2400" dirty="0">
                <a:latin typeface="IRNazanin" panose="02000506000000020002" pitchFamily="2" charset="-78"/>
                <a:cs typeface="IRNazanin" panose="02000506000000020002" pitchFamily="2" charset="-78"/>
              </a:rPr>
              <a:t> means.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0BFAA7-81B0-9BAD-B21E-91D38114F01C}"/>
              </a:ext>
            </a:extLst>
          </p:cNvPr>
          <p:cNvSpPr txBox="1"/>
          <p:nvPr/>
        </p:nvSpPr>
        <p:spPr>
          <a:xfrm>
            <a:off x="1512211" y="3366790"/>
            <a:ext cx="5953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should use </a:t>
            </a:r>
            <a:r>
              <a:rPr lang="en-US" sz="2000" u="sng" dirty="0">
                <a:latin typeface="IRNazanin" panose="02000506000000020002" pitchFamily="2" charset="-78"/>
                <a:cs typeface="IRNazanin" panose="02000506000000020002" pitchFamily="2" charset="-78"/>
              </a:rPr>
              <a:t>ANOVA</a:t>
            </a:r>
            <a:r>
              <a:rPr lang="en-US" sz="2000" dirty="0">
                <a:latin typeface="IRNazanin" panose="02000506000000020002" pitchFamily="2" charset="-78"/>
                <a:cs typeface="IRNazanin" panose="02000506000000020002" pitchFamily="2" charset="-78"/>
              </a:rPr>
              <a:t> to compare more than two groups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292A0E-523F-1EFC-F1FF-772F297EB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8602F4DC-30DE-506D-5794-59A35EF03996}"/>
              </a:ext>
            </a:extLst>
          </p:cNvPr>
          <p:cNvSpPr/>
          <p:nvPr/>
        </p:nvSpPr>
        <p:spPr>
          <a:xfrm rot="16200000">
            <a:off x="8299864" y="1948603"/>
            <a:ext cx="1006139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T- Test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E277F41B-B995-33AC-8708-97FE0CD79BCC}"/>
              </a:ext>
            </a:extLst>
          </p:cNvPr>
          <p:cNvSpPr/>
          <p:nvPr/>
        </p:nvSpPr>
        <p:spPr>
          <a:xfrm rot="16200000">
            <a:off x="7876694" y="3204852"/>
            <a:ext cx="1852488" cy="229853"/>
          </a:xfrm>
          <a:prstGeom prst="parallelogram">
            <a:avLst>
              <a:gd name="adj" fmla="val 98179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Kolmogorov-Smirnov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6D6FCCC-7AB0-F010-7005-21D200366B05}"/>
              </a:ext>
            </a:extLst>
          </p:cNvPr>
          <p:cNvSpPr/>
          <p:nvPr/>
        </p:nvSpPr>
        <p:spPr>
          <a:xfrm rot="16200000">
            <a:off x="8303743" y="4455162"/>
            <a:ext cx="1006138" cy="229853"/>
          </a:xfrm>
          <a:prstGeom prst="parallelogram">
            <a:avLst>
              <a:gd name="adj" fmla="val 98179"/>
            </a:avLst>
          </a:prstGeom>
          <a:solidFill>
            <a:srgbClr val="FF66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F2EEA20-C061-22D6-470A-394CE698FDC9}"/>
              </a:ext>
            </a:extLst>
          </p:cNvPr>
          <p:cNvSpPr/>
          <p:nvPr/>
        </p:nvSpPr>
        <p:spPr>
          <a:xfrm rot="16200000">
            <a:off x="8294997" y="1123435"/>
            <a:ext cx="1006138" cy="229853"/>
          </a:xfrm>
          <a:prstGeom prst="parallelogram">
            <a:avLst>
              <a:gd name="adj" fmla="val 9817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157158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/>
      <p:bldP spid="18" grpId="0"/>
      <p:bldP spid="25" grpId="0"/>
      <p:bldP spid="26" grpId="0"/>
      <p:bldP spid="28" grpId="0"/>
      <p:bldP spid="30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C5396-4556-73C2-E817-355F7930C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1" y="154508"/>
            <a:ext cx="1183874" cy="11791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B9B0E4-CC33-416C-A3AA-8DEE1E8550F1}"/>
              </a:ext>
            </a:extLst>
          </p:cNvPr>
          <p:cNvSpPr txBox="1"/>
          <p:nvPr/>
        </p:nvSpPr>
        <p:spPr>
          <a:xfrm>
            <a:off x="1155358" y="2892980"/>
            <a:ext cx="6833285" cy="78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spc="45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</a:t>
            </a:r>
            <a:endParaRPr lang="en-US" sz="6600" b="1" spc="45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32666F96-570B-4031-8DEE-F28227D3645D}"/>
              </a:ext>
            </a:extLst>
          </p:cNvPr>
          <p:cNvSpPr/>
          <p:nvPr/>
        </p:nvSpPr>
        <p:spPr>
          <a:xfrm rot="16200000" flipH="1" flipV="1">
            <a:off x="8223392" y="238794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5A2BF70E-7F40-4F4B-8BEA-9BCB2D3F763A}"/>
              </a:ext>
            </a:extLst>
          </p:cNvPr>
          <p:cNvSpPr/>
          <p:nvPr/>
        </p:nvSpPr>
        <p:spPr>
          <a:xfrm rot="16200000">
            <a:off x="235751" y="5916419"/>
            <a:ext cx="702787" cy="702787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46D018-A64E-BBD7-1292-B48730076EA3}"/>
              </a:ext>
            </a:extLst>
          </p:cNvPr>
          <p:cNvSpPr/>
          <p:nvPr/>
        </p:nvSpPr>
        <p:spPr>
          <a:xfrm>
            <a:off x="-6091" y="0"/>
            <a:ext cx="9156182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A8F8D-48D8-E385-622F-CB40CA672319}"/>
              </a:ext>
            </a:extLst>
          </p:cNvPr>
          <p:cNvSpPr txBox="1"/>
          <p:nvPr/>
        </p:nvSpPr>
        <p:spPr>
          <a:xfrm>
            <a:off x="1307758" y="3045380"/>
            <a:ext cx="68332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spc="45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</a:t>
            </a:r>
            <a:endParaRPr lang="en-US" sz="6600" b="1" spc="45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96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1721</TotalTime>
  <Words>1201</Words>
  <Application>Microsoft Office PowerPoint</Application>
  <PresentationFormat>On-screen Show (4:3)</PresentationFormat>
  <Paragraphs>299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IRNazanin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AQR</dc:creator>
  <cp:lastModifiedBy>ali asnaashari</cp:lastModifiedBy>
  <cp:revision>298</cp:revision>
  <dcterms:created xsi:type="dcterms:W3CDTF">2019-07-05T06:41:34Z</dcterms:created>
  <dcterms:modified xsi:type="dcterms:W3CDTF">2025-04-21T11:19:54Z</dcterms:modified>
</cp:coreProperties>
</file>